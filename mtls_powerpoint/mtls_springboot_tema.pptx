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0" r:id="rId1"/>
    <p:sldMasterId id="2147483671" r:id="rId2"/>
  </p:sldMasterIdLst>
  <p:notesMasterIdLst>
    <p:notesMasterId r:id="rId17"/>
  </p:notesMasterIdLst>
  <p:sldIdLst>
    <p:sldId id="256" r:id="rId3"/>
    <p:sldId id="370" r:id="rId4"/>
    <p:sldId id="389" r:id="rId5"/>
    <p:sldId id="387" r:id="rId6"/>
    <p:sldId id="403" r:id="rId7"/>
    <p:sldId id="408" r:id="rId8"/>
    <p:sldId id="390" r:id="rId9"/>
    <p:sldId id="404" r:id="rId10"/>
    <p:sldId id="405" r:id="rId11"/>
    <p:sldId id="406" r:id="rId12"/>
    <p:sldId id="407" r:id="rId13"/>
    <p:sldId id="393" r:id="rId14"/>
    <p:sldId id="386" r:id="rId15"/>
    <p:sldId id="409" r:id="rId16"/>
  </p:sldIdLst>
  <p:sldSz cx="9144000" cy="5143500" type="screen16x9"/>
  <p:notesSz cx="6858000" cy="9144000"/>
  <p:embeddedFontLst>
    <p:embeddedFont>
      <p:font typeface="Barlow" pitchFamily="2" charset="77"/>
      <p:regular r:id="rId18"/>
      <p:bold r:id="rId19"/>
      <p:italic r:id="rId20"/>
      <p:boldItalic r:id="rId21"/>
    </p:embeddedFont>
    <p:embeddedFont>
      <p:font typeface="Barlow ExtraBold" panose="00000900000000000000" pitchFamily="2" charset="77"/>
      <p:bold r:id="rId22"/>
      <p:italic r:id="rId23"/>
      <p:boldItalic r:id="rId24"/>
    </p:embeddedFont>
    <p:embeddedFont>
      <p:font typeface="Barlow ExtraLight" panose="00000300000000000000" pitchFamily="2" charset="77"/>
      <p:regular r:id="rId25"/>
      <p:bold r:id=""/>
      <p:italic r:id="rId26"/>
      <p:boldItalic r:id=""/>
    </p:embeddedFont>
    <p:embeddedFont>
      <p:font typeface="Barlow Medium" panose="00000600000000000000" pitchFamily="2" charset="77"/>
      <p:regular r:id="rId27"/>
      <p:bold r:id=""/>
      <p:italic r:id="rId28"/>
      <p:boldItalic r:id="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31160" autoAdjust="0"/>
    <p:restoredTop sz="94256" autoAdjust="0"/>
  </p:normalViewPr>
  <p:slideViewPr>
    <p:cSldViewPr snapToGrid="0">
      <p:cViewPr>
        <p:scale>
          <a:sx n="140" d="100"/>
          <a:sy n="140" d="100"/>
        </p:scale>
        <p:origin x="0" y="312"/>
      </p:cViewPr>
      <p:guideLst>
        <p:guide orient="horz" pos="1620"/>
        <p:guide pos="2880"/>
      </p:guideLst>
    </p:cSldViewPr>
  </p:slideViewPr>
  <p:notesTextViewPr>
    <p:cViewPr>
      <p:scale>
        <a:sx n="150" d="100"/>
        <a:sy n="15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font" Target="fonts/font1.fntdata"/><Relationship Id="rId26" Type="http://schemas.openxmlformats.org/officeDocument/2006/relationships/font" Target="fonts/font9.fntdata"/><Relationship Id="rId3" Type="http://schemas.openxmlformats.org/officeDocument/2006/relationships/slide" Target="slides/slide1.xml"/><Relationship Id="rId21" Type="http://schemas.openxmlformats.org/officeDocument/2006/relationships/font" Target="fonts/font4.fntdata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notesMaster" Target="notesMasters/notesMaster1.xml"/><Relationship Id="rId25" Type="http://schemas.openxmlformats.org/officeDocument/2006/relationships/font" Target="fonts/font8.fntdata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font" Target="fonts/font3.fntdata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font" Target="fonts/font7.fntdata"/><Relationship Id="rId32" Type="http://schemas.openxmlformats.org/officeDocument/2006/relationships/tableStyles" Target="tableStyle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font" Target="fonts/font6.fntdata"/><Relationship Id="rId28" Type="http://schemas.openxmlformats.org/officeDocument/2006/relationships/font" Target="fonts/font11.fntdata"/><Relationship Id="rId10" Type="http://schemas.openxmlformats.org/officeDocument/2006/relationships/slide" Target="slides/slide8.xml"/><Relationship Id="rId19" Type="http://schemas.openxmlformats.org/officeDocument/2006/relationships/font" Target="fonts/font2.fntdata"/><Relationship Id="rId31" Type="http://schemas.openxmlformats.org/officeDocument/2006/relationships/theme" Target="theme/theme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font" Target="fonts/font5.fntdata"/><Relationship Id="rId27" Type="http://schemas.openxmlformats.org/officeDocument/2006/relationships/font" Target="fonts/font10.fntdata"/><Relationship Id="rId30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s-MX"/>
          </a:p>
        </p:txBody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2a4d04bd851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s-MX"/>
          </a:p>
        </p:txBody>
      </p:sp>
      <p:sp>
        <p:nvSpPr>
          <p:cNvPr id="101" name="Google Shape;101;g2a4d04bd851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2">
          <a:extLst>
            <a:ext uri="{FF2B5EF4-FFF2-40B4-BE49-F238E27FC236}">
              <a16:creationId xmlns:a16="http://schemas.microsoft.com/office/drawing/2014/main" id="{487372A4-0E31-495E-1AED-B78CF0B86F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2a4b7121ab1_1_82:notes">
            <a:extLst>
              <a:ext uri="{FF2B5EF4-FFF2-40B4-BE49-F238E27FC236}">
                <a16:creationId xmlns:a16="http://schemas.microsoft.com/office/drawing/2014/main" id="{3AD643B4-702E-B917-A77C-9C633C02AC5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s-MX"/>
          </a:p>
        </p:txBody>
      </p:sp>
      <p:sp>
        <p:nvSpPr>
          <p:cNvPr id="84" name="Google Shape;84;g2a4b7121ab1_1_82:notes">
            <a:extLst>
              <a:ext uri="{FF2B5EF4-FFF2-40B4-BE49-F238E27FC236}">
                <a16:creationId xmlns:a16="http://schemas.microsoft.com/office/drawing/2014/main" id="{6B8470EA-8187-1236-24E8-1DF8C4AB4F7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99032209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2">
          <a:extLst>
            <a:ext uri="{FF2B5EF4-FFF2-40B4-BE49-F238E27FC236}">
              <a16:creationId xmlns:a16="http://schemas.microsoft.com/office/drawing/2014/main" id="{35BDC3DE-F581-ED05-44C6-AA62B694C6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2a4b7121ab1_1_82:notes">
            <a:extLst>
              <a:ext uri="{FF2B5EF4-FFF2-40B4-BE49-F238E27FC236}">
                <a16:creationId xmlns:a16="http://schemas.microsoft.com/office/drawing/2014/main" id="{F4F3D04B-EC43-8C1A-45FD-89B51486E99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s-MX"/>
          </a:p>
        </p:txBody>
      </p:sp>
      <p:sp>
        <p:nvSpPr>
          <p:cNvPr id="84" name="Google Shape;84;g2a4b7121ab1_1_82:notes">
            <a:extLst>
              <a:ext uri="{FF2B5EF4-FFF2-40B4-BE49-F238E27FC236}">
                <a16:creationId xmlns:a16="http://schemas.microsoft.com/office/drawing/2014/main" id="{16364EF3-A5FE-07A4-0808-8B53E4C9A0E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63406760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2">
          <a:extLst>
            <a:ext uri="{FF2B5EF4-FFF2-40B4-BE49-F238E27FC236}">
              <a16:creationId xmlns:a16="http://schemas.microsoft.com/office/drawing/2014/main" id="{0E0B12DF-097B-24B9-6FAC-9715CAF790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2a4b7121ab1_1_82:notes">
            <a:extLst>
              <a:ext uri="{FF2B5EF4-FFF2-40B4-BE49-F238E27FC236}">
                <a16:creationId xmlns:a16="http://schemas.microsoft.com/office/drawing/2014/main" id="{4736C15A-8939-D664-FE66-374EFEC501F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s-MX"/>
          </a:p>
        </p:txBody>
      </p:sp>
      <p:sp>
        <p:nvSpPr>
          <p:cNvPr id="84" name="Google Shape;84;g2a4b7121ab1_1_82:notes">
            <a:extLst>
              <a:ext uri="{FF2B5EF4-FFF2-40B4-BE49-F238E27FC236}">
                <a16:creationId xmlns:a16="http://schemas.microsoft.com/office/drawing/2014/main" id="{A1C62E39-027E-2E1E-E966-8D57AB60F88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49139761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2">
          <a:extLst>
            <a:ext uri="{FF2B5EF4-FFF2-40B4-BE49-F238E27FC236}">
              <a16:creationId xmlns:a16="http://schemas.microsoft.com/office/drawing/2014/main" id="{6ABC8EA8-6377-840E-B377-BDC6BF75B4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2a4b7121ab1_1_82:notes">
            <a:extLst>
              <a:ext uri="{FF2B5EF4-FFF2-40B4-BE49-F238E27FC236}">
                <a16:creationId xmlns:a16="http://schemas.microsoft.com/office/drawing/2014/main" id="{ABE1C452-464C-4ED4-3B53-1A58BA1037C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s-MX"/>
          </a:p>
        </p:txBody>
      </p:sp>
      <p:sp>
        <p:nvSpPr>
          <p:cNvPr id="84" name="Google Shape;84;g2a4b7121ab1_1_82:notes">
            <a:extLst>
              <a:ext uri="{FF2B5EF4-FFF2-40B4-BE49-F238E27FC236}">
                <a16:creationId xmlns:a16="http://schemas.microsoft.com/office/drawing/2014/main" id="{4A2E97B6-B35E-3F9E-AC9D-730C67FE7F3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57445951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2">
          <a:extLst>
            <a:ext uri="{FF2B5EF4-FFF2-40B4-BE49-F238E27FC236}">
              <a16:creationId xmlns:a16="http://schemas.microsoft.com/office/drawing/2014/main" id="{E2D9C4A5-9F24-CAA7-4713-2AD4EF386A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2a4b7121ab1_1_82:notes">
            <a:extLst>
              <a:ext uri="{FF2B5EF4-FFF2-40B4-BE49-F238E27FC236}">
                <a16:creationId xmlns:a16="http://schemas.microsoft.com/office/drawing/2014/main" id="{1231B98A-0287-6BFD-C1E4-0FA895BBB6D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s-MX"/>
          </a:p>
        </p:txBody>
      </p:sp>
      <p:sp>
        <p:nvSpPr>
          <p:cNvPr id="84" name="Google Shape;84;g2a4b7121ab1_1_82:notes">
            <a:extLst>
              <a:ext uri="{FF2B5EF4-FFF2-40B4-BE49-F238E27FC236}">
                <a16:creationId xmlns:a16="http://schemas.microsoft.com/office/drawing/2014/main" id="{0C2FCE1E-CE51-C940-9E19-4E8865BA5FC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86537776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2">
          <a:extLst>
            <a:ext uri="{FF2B5EF4-FFF2-40B4-BE49-F238E27FC236}">
              <a16:creationId xmlns:a16="http://schemas.microsoft.com/office/drawing/2014/main" id="{B27B8008-9545-C041-6989-F7761583AC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2a4b7121ab1_1_82:notes">
            <a:extLst>
              <a:ext uri="{FF2B5EF4-FFF2-40B4-BE49-F238E27FC236}">
                <a16:creationId xmlns:a16="http://schemas.microsoft.com/office/drawing/2014/main" id="{7A656CF6-E905-F264-C91C-9388D13606C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s-MX"/>
          </a:p>
        </p:txBody>
      </p:sp>
      <p:sp>
        <p:nvSpPr>
          <p:cNvPr id="84" name="Google Shape;84;g2a4b7121ab1_1_82:notes">
            <a:extLst>
              <a:ext uri="{FF2B5EF4-FFF2-40B4-BE49-F238E27FC236}">
                <a16:creationId xmlns:a16="http://schemas.microsoft.com/office/drawing/2014/main" id="{439C918A-B7CB-ADA4-CD60-DAFDED5BD6E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61509473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2">
          <a:extLst>
            <a:ext uri="{FF2B5EF4-FFF2-40B4-BE49-F238E27FC236}">
              <a16:creationId xmlns:a16="http://schemas.microsoft.com/office/drawing/2014/main" id="{585808B4-A97D-69E8-69EB-017B9CF339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2a4b7121ab1_1_82:notes">
            <a:extLst>
              <a:ext uri="{FF2B5EF4-FFF2-40B4-BE49-F238E27FC236}">
                <a16:creationId xmlns:a16="http://schemas.microsoft.com/office/drawing/2014/main" id="{4E2CEF97-F4F9-D1A8-B391-C9E64838B9A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s-MX"/>
          </a:p>
        </p:txBody>
      </p:sp>
      <p:sp>
        <p:nvSpPr>
          <p:cNvPr id="84" name="Google Shape;84;g2a4b7121ab1_1_82:notes">
            <a:extLst>
              <a:ext uri="{FF2B5EF4-FFF2-40B4-BE49-F238E27FC236}">
                <a16:creationId xmlns:a16="http://schemas.microsoft.com/office/drawing/2014/main" id="{052808E7-B987-0803-FE53-5505508E581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90475372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2">
          <a:extLst>
            <a:ext uri="{FF2B5EF4-FFF2-40B4-BE49-F238E27FC236}">
              <a16:creationId xmlns:a16="http://schemas.microsoft.com/office/drawing/2014/main" id="{B5FFA6C0-956A-DD9C-6158-E81E0DCB2B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2a4b7121ab1_1_82:notes">
            <a:extLst>
              <a:ext uri="{FF2B5EF4-FFF2-40B4-BE49-F238E27FC236}">
                <a16:creationId xmlns:a16="http://schemas.microsoft.com/office/drawing/2014/main" id="{BDFB965E-4ADF-29D0-0290-C133E36DFF7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s-MX"/>
          </a:p>
        </p:txBody>
      </p:sp>
      <p:sp>
        <p:nvSpPr>
          <p:cNvPr id="84" name="Google Shape;84;g2a4b7121ab1_1_82:notes">
            <a:extLst>
              <a:ext uri="{FF2B5EF4-FFF2-40B4-BE49-F238E27FC236}">
                <a16:creationId xmlns:a16="http://schemas.microsoft.com/office/drawing/2014/main" id="{E1F7AD3E-7B51-D96C-5F63-341E259D77C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02375621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2">
          <a:extLst>
            <a:ext uri="{FF2B5EF4-FFF2-40B4-BE49-F238E27FC236}">
              <a16:creationId xmlns:a16="http://schemas.microsoft.com/office/drawing/2014/main" id="{E364100B-F267-FAFD-952C-E9A15D4CA4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2a4b7121ab1_1_82:notes">
            <a:extLst>
              <a:ext uri="{FF2B5EF4-FFF2-40B4-BE49-F238E27FC236}">
                <a16:creationId xmlns:a16="http://schemas.microsoft.com/office/drawing/2014/main" id="{9307039D-A807-9399-0AA4-5764F295572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s-MX"/>
          </a:p>
        </p:txBody>
      </p:sp>
      <p:sp>
        <p:nvSpPr>
          <p:cNvPr id="84" name="Google Shape;84;g2a4b7121ab1_1_82:notes">
            <a:extLst>
              <a:ext uri="{FF2B5EF4-FFF2-40B4-BE49-F238E27FC236}">
                <a16:creationId xmlns:a16="http://schemas.microsoft.com/office/drawing/2014/main" id="{00B1EA3F-E8B5-CEA0-3D2B-8721932ABDE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82255761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2">
          <a:extLst>
            <a:ext uri="{FF2B5EF4-FFF2-40B4-BE49-F238E27FC236}">
              <a16:creationId xmlns:a16="http://schemas.microsoft.com/office/drawing/2014/main" id="{D3A6A85B-73A7-35BB-E440-C94C52ECFB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2a4b7121ab1_1_82:notes">
            <a:extLst>
              <a:ext uri="{FF2B5EF4-FFF2-40B4-BE49-F238E27FC236}">
                <a16:creationId xmlns:a16="http://schemas.microsoft.com/office/drawing/2014/main" id="{CB7F9D2F-5239-C14D-64E6-57E9D538BB8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s-MX"/>
          </a:p>
        </p:txBody>
      </p:sp>
      <p:sp>
        <p:nvSpPr>
          <p:cNvPr id="84" name="Google Shape;84;g2a4b7121ab1_1_82:notes">
            <a:extLst>
              <a:ext uri="{FF2B5EF4-FFF2-40B4-BE49-F238E27FC236}">
                <a16:creationId xmlns:a16="http://schemas.microsoft.com/office/drawing/2014/main" id="{2D294EA8-9CFC-6846-6586-5DBFA6ACC6D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21433116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2">
          <a:extLst>
            <a:ext uri="{FF2B5EF4-FFF2-40B4-BE49-F238E27FC236}">
              <a16:creationId xmlns:a16="http://schemas.microsoft.com/office/drawing/2014/main" id="{7C730BD8-65D1-8CFC-913B-167EBCA8CE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2a4b7121ab1_1_82:notes">
            <a:extLst>
              <a:ext uri="{FF2B5EF4-FFF2-40B4-BE49-F238E27FC236}">
                <a16:creationId xmlns:a16="http://schemas.microsoft.com/office/drawing/2014/main" id="{B88E7676-A2D0-02D3-3CF0-BC503BA8D7C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s-MX"/>
          </a:p>
        </p:txBody>
      </p:sp>
      <p:sp>
        <p:nvSpPr>
          <p:cNvPr id="84" name="Google Shape;84;g2a4b7121ab1_1_82:notes">
            <a:extLst>
              <a:ext uri="{FF2B5EF4-FFF2-40B4-BE49-F238E27FC236}">
                <a16:creationId xmlns:a16="http://schemas.microsoft.com/office/drawing/2014/main" id="{9278DA4E-CF98-3211-AD64-36F8A277608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46236141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2">
          <a:extLst>
            <a:ext uri="{FF2B5EF4-FFF2-40B4-BE49-F238E27FC236}">
              <a16:creationId xmlns:a16="http://schemas.microsoft.com/office/drawing/2014/main" id="{926E74FD-3CE3-6587-8A21-5D2B447BBA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2a4b7121ab1_1_82:notes">
            <a:extLst>
              <a:ext uri="{FF2B5EF4-FFF2-40B4-BE49-F238E27FC236}">
                <a16:creationId xmlns:a16="http://schemas.microsoft.com/office/drawing/2014/main" id="{8F9029C2-297B-CA20-015E-32629AB945C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s-MX"/>
          </a:p>
        </p:txBody>
      </p:sp>
      <p:sp>
        <p:nvSpPr>
          <p:cNvPr id="84" name="Google Shape;84;g2a4b7121ab1_1_82:notes">
            <a:extLst>
              <a:ext uri="{FF2B5EF4-FFF2-40B4-BE49-F238E27FC236}">
                <a16:creationId xmlns:a16="http://schemas.microsoft.com/office/drawing/2014/main" id="{867CDAC5-B6D7-2734-88B1-8D2737FCBDA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26003398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2">
          <a:extLst>
            <a:ext uri="{FF2B5EF4-FFF2-40B4-BE49-F238E27FC236}">
              <a16:creationId xmlns:a16="http://schemas.microsoft.com/office/drawing/2014/main" id="{2EA5C783-72A1-3129-6BC1-90C3D97C99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2a4b7121ab1_1_82:notes">
            <a:extLst>
              <a:ext uri="{FF2B5EF4-FFF2-40B4-BE49-F238E27FC236}">
                <a16:creationId xmlns:a16="http://schemas.microsoft.com/office/drawing/2014/main" id="{A6292086-B5BC-DE1E-15B3-A418E2DAF0B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s-MX"/>
          </a:p>
        </p:txBody>
      </p:sp>
      <p:sp>
        <p:nvSpPr>
          <p:cNvPr id="84" name="Google Shape;84;g2a4b7121ab1_1_82:notes">
            <a:extLst>
              <a:ext uri="{FF2B5EF4-FFF2-40B4-BE49-F238E27FC236}">
                <a16:creationId xmlns:a16="http://schemas.microsoft.com/office/drawing/2014/main" id="{B0143D64-82A2-8652-F232-0CEBA517F48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58299921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4"/>
          <p:cNvSpPr txBox="1">
            <a:spLocks noGrp="1"/>
          </p:cNvSpPr>
          <p:nvPr>
            <p:ph type="ctrTitle"/>
          </p:nvPr>
        </p:nvSpPr>
        <p:spPr>
          <a:xfrm>
            <a:off x="311708" y="1748013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Font typeface="Barlow ExtraBold"/>
              <a:buNone/>
              <a:defRPr sz="5200">
                <a:solidFill>
                  <a:schemeClr val="lt1"/>
                </a:solidFill>
                <a:latin typeface="Barlow ExtraBold"/>
                <a:ea typeface="Barlow ExtraBold"/>
                <a:cs typeface="Barlow ExtraBold"/>
                <a:sym typeface="Barlow ExtraBol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56" name="Google Shape;56;p14"/>
          <p:cNvSpPr txBox="1">
            <a:spLocks noGrp="1"/>
          </p:cNvSpPr>
          <p:nvPr>
            <p:ph type="subTitle" idx="1"/>
          </p:nvPr>
        </p:nvSpPr>
        <p:spPr>
          <a:xfrm>
            <a:off x="1618800" y="1567425"/>
            <a:ext cx="5906400" cy="562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 sz="19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 sz="19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 sz="19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 sz="19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 sz="19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 sz="19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 sz="19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 sz="1900"/>
            </a:lvl9pPr>
          </a:lstStyle>
          <a:p>
            <a:endParaRPr/>
          </a:p>
        </p:txBody>
      </p:sp>
      <p:sp>
        <p:nvSpPr>
          <p:cNvPr id="57" name="Google Shape;57;p1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  <p:cxnSp>
        <p:nvCxnSpPr>
          <p:cNvPr id="58" name="Google Shape;58;p14"/>
          <p:cNvCxnSpPr/>
          <p:nvPr/>
        </p:nvCxnSpPr>
        <p:spPr>
          <a:xfrm>
            <a:off x="559825" y="4144350"/>
            <a:ext cx="7985400" cy="0"/>
          </a:xfrm>
          <a:prstGeom prst="straightConnector1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59" name="Google Shape;59;p14"/>
          <p:cNvSpPr txBox="1"/>
          <p:nvPr/>
        </p:nvSpPr>
        <p:spPr>
          <a:xfrm rot="-5400000">
            <a:off x="-922500" y="922488"/>
            <a:ext cx="2208300" cy="36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000">
                <a:solidFill>
                  <a:schemeClr val="lt1"/>
                </a:solidFill>
                <a:latin typeface="Barlow ExtraLight"/>
                <a:ea typeface="Barlow ExtraLight"/>
                <a:cs typeface="Barlow ExtraLight"/>
                <a:sym typeface="Barlow ExtraLight"/>
              </a:rPr>
              <a:t>www.asteci-digital-factory.com.mx</a:t>
            </a:r>
            <a:endParaRPr sz="1000">
              <a:solidFill>
                <a:schemeClr val="lt1"/>
              </a:solidFill>
              <a:latin typeface="Barlow ExtraLight"/>
              <a:ea typeface="Barlow ExtraLight"/>
              <a:cs typeface="Barlow ExtraLight"/>
              <a:sym typeface="Barlow ExtraLight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6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68" name="Google Shape;68;p1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7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17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72" name="Google Shape;72;p17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73" name="Google Shape;73;p1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8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9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79" name="Google Shape;79;p19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80" name="Google Shape;80;p1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21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6" name="Google Shape;86;p21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87" name="Google Shape;87;p21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88" name="Google Shape;88;p21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89" name="Google Shape;89;p2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3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95" name="Google Shape;95;p23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96" name="Google Shape;96;p2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18429682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5" Type="http://schemas.openxmlformats.org/officeDocument/2006/relationships/slideLayout" Target="../slideLayouts/slideLayout16.xml"/><Relationship Id="rId10" Type="http://schemas.openxmlformats.org/officeDocument/2006/relationships/image" Target="../media/image1.png"/><Relationship Id="rId4" Type="http://schemas.openxmlformats.org/officeDocument/2006/relationships/slideLayout" Target="../slideLayouts/slideLayout15.xml"/><Relationship Id="rId9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blipFill>
          <a:blip r:embed="rId10">
            <a:alphaModFix/>
          </a:blip>
          <a:stretch>
            <a:fillRect/>
          </a:stretch>
        </a:blipFill>
        <a:effectLst/>
      </p:bgPr>
    </p:bg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52" name="Google Shape;52;p13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53" name="Google Shape;53;p1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9" r:id="rId1"/>
    <p:sldLayoutId id="2147483661" r:id="rId2"/>
    <p:sldLayoutId id="2147483662" r:id="rId3"/>
    <p:sldLayoutId id="2147483663" r:id="rId4"/>
    <p:sldLayoutId id="2147483664" r:id="rId5"/>
    <p:sldLayoutId id="2147483666" r:id="rId6"/>
    <p:sldLayoutId id="2147483668" r:id="rId7"/>
    <p:sldLayoutId id="2147483672" r:id="rId8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9.xml"/><Relationship Id="rId4" Type="http://schemas.openxmlformats.org/officeDocument/2006/relationships/image" Target="../media/image7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9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9.xml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9.xml"/><Relationship Id="rId4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9.xml"/><Relationship Id="rId4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9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9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9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9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9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9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9.xml"/><Relationship Id="rId4" Type="http://schemas.openxmlformats.org/officeDocument/2006/relationships/image" Target="../media/image7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9.xml"/><Relationship Id="rId4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25"/>
          <p:cNvSpPr/>
          <p:nvPr/>
        </p:nvSpPr>
        <p:spPr>
          <a:xfrm rot="10800000">
            <a:off x="0" y="3872125"/>
            <a:ext cx="9144000" cy="1314900"/>
          </a:xfrm>
          <a:prstGeom prst="rect">
            <a:avLst/>
          </a:prstGeom>
          <a:gradFill>
            <a:gsLst>
              <a:gs pos="0">
                <a:srgbClr val="0B5394">
                  <a:alpha val="79607"/>
                </a:srgbClr>
              </a:gs>
              <a:gs pos="100000">
                <a:srgbClr val="213184">
                  <a:alpha val="0"/>
                </a:srgbClr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s-MX" noProof="1"/>
          </a:p>
        </p:txBody>
      </p:sp>
      <p:sp>
        <p:nvSpPr>
          <p:cNvPr id="106" name="Google Shape;106;p25"/>
          <p:cNvSpPr txBox="1">
            <a:spLocks noGrp="1"/>
          </p:cNvSpPr>
          <p:nvPr>
            <p:ph type="ctrTitle"/>
          </p:nvPr>
        </p:nvSpPr>
        <p:spPr>
          <a:xfrm>
            <a:off x="2139331" y="1156111"/>
            <a:ext cx="5004419" cy="252738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>
              <a:buSzPts val="990"/>
            </a:pPr>
            <a:r>
              <a:rPr lang="es-MX" sz="4800" noProof="1">
                <a:solidFill>
                  <a:schemeClr val="lt1"/>
                </a:solidFill>
                <a:latin typeface="Barlow ExtraBold"/>
                <a:ea typeface="Barlow ExtraBold"/>
                <a:cs typeface="Barlow ExtraBold"/>
                <a:sym typeface="Barlow ExtraBold"/>
              </a:rPr>
              <a:t>SSL/TLS MTLS HTTPS EN MICROSERVICIOS</a:t>
            </a:r>
            <a:br>
              <a:rPr lang="es-MX" sz="1200" noProof="1">
                <a:solidFill>
                  <a:schemeClr val="lt1"/>
                </a:solidFill>
                <a:latin typeface="Barlow ExtraBold"/>
                <a:ea typeface="Barlow ExtraBold"/>
                <a:cs typeface="Barlow ExtraBold"/>
                <a:sym typeface="Barlow ExtraBold"/>
              </a:rPr>
            </a:br>
            <a:r>
              <a:rPr lang="es-MX" sz="1200" noProof="1">
                <a:solidFill>
                  <a:schemeClr val="lt1"/>
                </a:solidFill>
                <a:latin typeface="Barlow ExtraBold"/>
                <a:ea typeface="Barlow ExtraBold"/>
                <a:cs typeface="Barlow ExtraBold"/>
                <a:sym typeface="Barlow ExtraBold"/>
              </a:rPr>
              <a:t>Tema.</a:t>
            </a:r>
          </a:p>
        </p:txBody>
      </p:sp>
      <p:pic>
        <p:nvPicPr>
          <p:cNvPr id="107" name="Google Shape;107;p2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45000" y="4262775"/>
            <a:ext cx="1349673" cy="719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5">
          <a:extLst>
            <a:ext uri="{FF2B5EF4-FFF2-40B4-BE49-F238E27FC236}">
              <a16:creationId xmlns:a16="http://schemas.microsoft.com/office/drawing/2014/main" id="{020B6745-A3B7-0EA6-E8DC-231C106BD4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6">
            <a:extLst>
              <a:ext uri="{FF2B5EF4-FFF2-40B4-BE49-F238E27FC236}">
                <a16:creationId xmlns:a16="http://schemas.microsoft.com/office/drawing/2014/main" id="{CBAB3B58-1112-BC63-86B0-D19CD53C771F}"/>
              </a:ext>
            </a:extLst>
          </p:cNvPr>
          <p:cNvSpPr/>
          <p:nvPr/>
        </p:nvSpPr>
        <p:spPr>
          <a:xfrm>
            <a:off x="5206662" y="1102925"/>
            <a:ext cx="3581700" cy="3581700"/>
          </a:xfrm>
          <a:prstGeom prst="ellipse">
            <a:avLst/>
          </a:prstGeom>
          <a:noFill/>
          <a:ln w="19050" cap="flat" cmpd="sng">
            <a:solidFill>
              <a:srgbClr val="F0F8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noProof="1"/>
              <a:t>          </a:t>
            </a:r>
          </a:p>
        </p:txBody>
      </p:sp>
      <p:sp>
        <p:nvSpPr>
          <p:cNvPr id="89" name="Google Shape;89;p16">
            <a:extLst>
              <a:ext uri="{FF2B5EF4-FFF2-40B4-BE49-F238E27FC236}">
                <a16:creationId xmlns:a16="http://schemas.microsoft.com/office/drawing/2014/main" id="{19EB55C7-AA3E-978F-7DC0-7E9CC672A001}"/>
              </a:ext>
            </a:extLst>
          </p:cNvPr>
          <p:cNvSpPr/>
          <p:nvPr/>
        </p:nvSpPr>
        <p:spPr>
          <a:xfrm>
            <a:off x="7733608" y="2549032"/>
            <a:ext cx="1242300" cy="1242300"/>
          </a:xfrm>
          <a:prstGeom prst="ellipse">
            <a:avLst/>
          </a:prstGeom>
          <a:solidFill>
            <a:srgbClr val="CC0000">
              <a:alpha val="633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s-MX" noProof="1"/>
          </a:p>
        </p:txBody>
      </p:sp>
      <p:sp>
        <p:nvSpPr>
          <p:cNvPr id="92" name="Google Shape;92;p16">
            <a:extLst>
              <a:ext uri="{FF2B5EF4-FFF2-40B4-BE49-F238E27FC236}">
                <a16:creationId xmlns:a16="http://schemas.microsoft.com/office/drawing/2014/main" id="{5F457AAD-C09F-746B-AB35-164DDEB4B946}"/>
              </a:ext>
            </a:extLst>
          </p:cNvPr>
          <p:cNvSpPr/>
          <p:nvPr/>
        </p:nvSpPr>
        <p:spPr>
          <a:xfrm>
            <a:off x="4945074" y="3456380"/>
            <a:ext cx="1474500" cy="1474500"/>
          </a:xfrm>
          <a:prstGeom prst="ellipse">
            <a:avLst/>
          </a:prstGeom>
          <a:solidFill>
            <a:srgbClr val="FFE599">
              <a:alpha val="2468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s-MX" noProof="1"/>
          </a:p>
        </p:txBody>
      </p:sp>
      <p:sp>
        <p:nvSpPr>
          <p:cNvPr id="93" name="Google Shape;93;p16">
            <a:extLst>
              <a:ext uri="{FF2B5EF4-FFF2-40B4-BE49-F238E27FC236}">
                <a16:creationId xmlns:a16="http://schemas.microsoft.com/office/drawing/2014/main" id="{95D12E03-C7A3-59D3-72DB-1328AAF1619E}"/>
              </a:ext>
            </a:extLst>
          </p:cNvPr>
          <p:cNvSpPr/>
          <p:nvPr/>
        </p:nvSpPr>
        <p:spPr>
          <a:xfrm>
            <a:off x="6988025" y="3863083"/>
            <a:ext cx="1194000" cy="1194000"/>
          </a:xfrm>
          <a:prstGeom prst="ellipse">
            <a:avLst/>
          </a:prstGeom>
          <a:solidFill>
            <a:srgbClr val="FF0000">
              <a:alpha val="696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s-MX" noProof="1"/>
          </a:p>
        </p:txBody>
      </p:sp>
      <p:sp>
        <p:nvSpPr>
          <p:cNvPr id="2" name="Google Shape;164;p28">
            <a:extLst>
              <a:ext uri="{FF2B5EF4-FFF2-40B4-BE49-F238E27FC236}">
                <a16:creationId xmlns:a16="http://schemas.microsoft.com/office/drawing/2014/main" id="{D874A3C4-354C-292D-8D97-C6C13DE518A4}"/>
              </a:ext>
            </a:extLst>
          </p:cNvPr>
          <p:cNvSpPr txBox="1">
            <a:spLocks/>
          </p:cNvSpPr>
          <p:nvPr/>
        </p:nvSpPr>
        <p:spPr>
          <a:xfrm>
            <a:off x="291307" y="247975"/>
            <a:ext cx="7890717" cy="6086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buSzPts val="990"/>
            </a:pPr>
            <a:r>
              <a:rPr lang="es-MX" sz="2720" noProof="1">
                <a:solidFill>
                  <a:schemeClr val="accent4"/>
                </a:solidFill>
                <a:latin typeface="Barlow Medium"/>
                <a:ea typeface="Barlow Medium"/>
                <a:cs typeface="Barlow Medium"/>
                <a:sym typeface="Barlow Medium"/>
              </a:rPr>
              <a:t>QUE ES  </a:t>
            </a:r>
            <a:r>
              <a:rPr lang="es-MX" sz="2720" noProof="1">
                <a:solidFill>
                  <a:schemeClr val="dk2"/>
                </a:solidFill>
                <a:latin typeface="Barlow Medium"/>
                <a:ea typeface="Barlow Medium"/>
                <a:cs typeface="Barlow Medium"/>
                <a:sym typeface="Barlow Medium"/>
              </a:rPr>
              <a:t>HTTP Y HTTPS</a:t>
            </a:r>
          </a:p>
        </p:txBody>
      </p:sp>
      <p:sp>
        <p:nvSpPr>
          <p:cNvPr id="5" name="Google Shape;117;p16">
            <a:extLst>
              <a:ext uri="{FF2B5EF4-FFF2-40B4-BE49-F238E27FC236}">
                <a16:creationId xmlns:a16="http://schemas.microsoft.com/office/drawing/2014/main" id="{83876B0A-2F34-86AF-BDCB-CC01AC0E77BD}"/>
              </a:ext>
            </a:extLst>
          </p:cNvPr>
          <p:cNvSpPr txBox="1"/>
          <p:nvPr/>
        </p:nvSpPr>
        <p:spPr>
          <a:xfrm>
            <a:off x="291307" y="780901"/>
            <a:ext cx="8497055" cy="23030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algn="just"/>
            <a:r>
              <a:rPr lang="es-MX" sz="1450" b="1" noProof="1">
                <a:solidFill>
                  <a:schemeClr val="accent1">
                    <a:lumMod val="75000"/>
                  </a:schemeClr>
                </a:solidFill>
                <a:latin typeface="Barlow" pitchFamily="2" charset="77"/>
              </a:rPr>
              <a:t>HTTP</a:t>
            </a:r>
            <a:r>
              <a:rPr lang="es-MX" sz="1450" noProof="1">
                <a:solidFill>
                  <a:srgbClr val="666666"/>
                </a:solidFill>
                <a:latin typeface="Barlow" pitchFamily="2" charset="77"/>
              </a:rPr>
              <a:t> significa Hypertext Transfer Protocol o Protocolo de Transferencia de Hipertexto. Se trata del protocolo encargado de hacer posible el envío y recepción de información desde un servidor, hasta nuestros ordenadores mediante el navegador de páginas web.</a:t>
            </a:r>
          </a:p>
          <a:p>
            <a:pPr algn="just"/>
            <a:endParaRPr lang="es-MX" sz="1450" noProof="1">
              <a:solidFill>
                <a:srgbClr val="666666"/>
              </a:solidFill>
              <a:latin typeface="Barlow" pitchFamily="2" charset="77"/>
            </a:endParaRPr>
          </a:p>
          <a:p>
            <a:pPr algn="just"/>
            <a:r>
              <a:rPr lang="es-MX" sz="1450" b="1" noProof="1">
                <a:solidFill>
                  <a:schemeClr val="accent1">
                    <a:lumMod val="75000"/>
                  </a:schemeClr>
                </a:solidFill>
                <a:latin typeface="Barlow" pitchFamily="2" charset="77"/>
              </a:rPr>
              <a:t>HTTPS</a:t>
            </a:r>
            <a:r>
              <a:rPr lang="es-MX" sz="1450" noProof="1">
                <a:solidFill>
                  <a:srgbClr val="666666"/>
                </a:solidFill>
                <a:latin typeface="Barlow" pitchFamily="2" charset="77"/>
              </a:rPr>
              <a:t> </a:t>
            </a:r>
            <a:r>
              <a:rPr lang="es-MX" sz="1450" noProof="1">
                <a:solidFill>
                  <a:schemeClr val="tx1"/>
                </a:solidFill>
                <a:latin typeface="Barlow" pitchFamily="2" charset="77"/>
              </a:rPr>
              <a:t>(HyperText Transfer Protocol Secure) </a:t>
            </a:r>
            <a:r>
              <a:rPr lang="es-MX" sz="1450" noProof="1">
                <a:solidFill>
                  <a:srgbClr val="666666"/>
                </a:solidFill>
                <a:latin typeface="Barlow" pitchFamily="2" charset="77"/>
              </a:rPr>
              <a:t>es la versión segura de HTTP, con la diferencia fundamental de que los datos de la transacción entre el cliente y el servidor están cifrados.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3C409747-C865-E37C-5730-73F53047060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05676" y="2228054"/>
            <a:ext cx="3998124" cy="2829029"/>
          </a:xfrm>
          <a:prstGeom prst="rect">
            <a:avLst/>
          </a:prstGeom>
        </p:spPr>
      </p:pic>
      <p:sp>
        <p:nvSpPr>
          <p:cNvPr id="6" name="Google Shape;89;p16">
            <a:extLst>
              <a:ext uri="{FF2B5EF4-FFF2-40B4-BE49-F238E27FC236}">
                <a16:creationId xmlns:a16="http://schemas.microsoft.com/office/drawing/2014/main" id="{10F2BB2B-FA97-9DA2-FCF3-E33342BC4076}"/>
              </a:ext>
            </a:extLst>
          </p:cNvPr>
          <p:cNvSpPr/>
          <p:nvPr/>
        </p:nvSpPr>
        <p:spPr>
          <a:xfrm>
            <a:off x="7733608" y="2549032"/>
            <a:ext cx="1242300" cy="1242300"/>
          </a:xfrm>
          <a:prstGeom prst="ellipse">
            <a:avLst/>
          </a:prstGeom>
          <a:solidFill>
            <a:srgbClr val="CC0000">
              <a:alpha val="633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s-MX" noProof="1"/>
          </a:p>
        </p:txBody>
      </p:sp>
      <p:sp>
        <p:nvSpPr>
          <p:cNvPr id="7" name="Google Shape;88;p16">
            <a:extLst>
              <a:ext uri="{FF2B5EF4-FFF2-40B4-BE49-F238E27FC236}">
                <a16:creationId xmlns:a16="http://schemas.microsoft.com/office/drawing/2014/main" id="{59859FD9-528C-EA6D-176A-58C4044A9722}"/>
              </a:ext>
            </a:extLst>
          </p:cNvPr>
          <p:cNvSpPr/>
          <p:nvPr/>
        </p:nvSpPr>
        <p:spPr>
          <a:xfrm>
            <a:off x="7305724" y="2653687"/>
            <a:ext cx="1383900" cy="1383900"/>
          </a:xfrm>
          <a:prstGeom prst="ellipse">
            <a:avLst/>
          </a:prstGeom>
          <a:noFill/>
          <a:ln w="19050" cap="flat" cmpd="sng">
            <a:solidFill>
              <a:srgbClr val="9FC5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s-MX" noProof="1"/>
          </a:p>
        </p:txBody>
      </p:sp>
      <p:pic>
        <p:nvPicPr>
          <p:cNvPr id="9" name="Picture 2" descr="mTLS Explained | Beeceptor">
            <a:extLst>
              <a:ext uri="{FF2B5EF4-FFF2-40B4-BE49-F238E27FC236}">
                <a16:creationId xmlns:a16="http://schemas.microsoft.com/office/drawing/2014/main" id="{0B614BB9-669D-73F3-807B-D2927DA37A7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99264" y="2774939"/>
            <a:ext cx="2196821" cy="12577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024105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5">
          <a:extLst>
            <a:ext uri="{FF2B5EF4-FFF2-40B4-BE49-F238E27FC236}">
              <a16:creationId xmlns:a16="http://schemas.microsoft.com/office/drawing/2014/main" id="{5421474D-8127-CA9B-B39A-2195023CBB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6">
            <a:extLst>
              <a:ext uri="{FF2B5EF4-FFF2-40B4-BE49-F238E27FC236}">
                <a16:creationId xmlns:a16="http://schemas.microsoft.com/office/drawing/2014/main" id="{E0389FCA-9FB6-F7C6-6E60-3A1098B60F1F}"/>
              </a:ext>
            </a:extLst>
          </p:cNvPr>
          <p:cNvSpPr/>
          <p:nvPr/>
        </p:nvSpPr>
        <p:spPr>
          <a:xfrm>
            <a:off x="5206662" y="1102925"/>
            <a:ext cx="3581700" cy="3581700"/>
          </a:xfrm>
          <a:prstGeom prst="ellipse">
            <a:avLst/>
          </a:prstGeom>
          <a:noFill/>
          <a:ln w="19050" cap="flat" cmpd="sng">
            <a:solidFill>
              <a:srgbClr val="F0F8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noProof="1"/>
              <a:t>          </a:t>
            </a:r>
          </a:p>
        </p:txBody>
      </p:sp>
      <p:sp>
        <p:nvSpPr>
          <p:cNvPr id="89" name="Google Shape;89;p16">
            <a:extLst>
              <a:ext uri="{FF2B5EF4-FFF2-40B4-BE49-F238E27FC236}">
                <a16:creationId xmlns:a16="http://schemas.microsoft.com/office/drawing/2014/main" id="{6F26E46D-06EE-90CC-45F1-3DD72E78D2F1}"/>
              </a:ext>
            </a:extLst>
          </p:cNvPr>
          <p:cNvSpPr/>
          <p:nvPr/>
        </p:nvSpPr>
        <p:spPr>
          <a:xfrm>
            <a:off x="7733608" y="2549032"/>
            <a:ext cx="1242300" cy="1242300"/>
          </a:xfrm>
          <a:prstGeom prst="ellipse">
            <a:avLst/>
          </a:prstGeom>
          <a:solidFill>
            <a:srgbClr val="CC0000">
              <a:alpha val="633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s-MX" noProof="1"/>
          </a:p>
        </p:txBody>
      </p:sp>
      <p:sp>
        <p:nvSpPr>
          <p:cNvPr id="92" name="Google Shape;92;p16">
            <a:extLst>
              <a:ext uri="{FF2B5EF4-FFF2-40B4-BE49-F238E27FC236}">
                <a16:creationId xmlns:a16="http://schemas.microsoft.com/office/drawing/2014/main" id="{F42873A3-5713-2EDD-FC0F-518D8888B72B}"/>
              </a:ext>
            </a:extLst>
          </p:cNvPr>
          <p:cNvSpPr/>
          <p:nvPr/>
        </p:nvSpPr>
        <p:spPr>
          <a:xfrm>
            <a:off x="4945074" y="3456380"/>
            <a:ext cx="1474500" cy="1474500"/>
          </a:xfrm>
          <a:prstGeom prst="ellipse">
            <a:avLst/>
          </a:prstGeom>
          <a:solidFill>
            <a:srgbClr val="FFE599">
              <a:alpha val="2468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s-MX" noProof="1"/>
          </a:p>
        </p:txBody>
      </p:sp>
      <p:sp>
        <p:nvSpPr>
          <p:cNvPr id="93" name="Google Shape;93;p16">
            <a:extLst>
              <a:ext uri="{FF2B5EF4-FFF2-40B4-BE49-F238E27FC236}">
                <a16:creationId xmlns:a16="http://schemas.microsoft.com/office/drawing/2014/main" id="{7D99C21A-AE6B-5F73-816F-35C0B6179BC0}"/>
              </a:ext>
            </a:extLst>
          </p:cNvPr>
          <p:cNvSpPr/>
          <p:nvPr/>
        </p:nvSpPr>
        <p:spPr>
          <a:xfrm>
            <a:off x="6988025" y="3863083"/>
            <a:ext cx="1194000" cy="1194000"/>
          </a:xfrm>
          <a:prstGeom prst="ellipse">
            <a:avLst/>
          </a:prstGeom>
          <a:solidFill>
            <a:srgbClr val="FF0000">
              <a:alpha val="696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s-MX" noProof="1"/>
          </a:p>
        </p:txBody>
      </p:sp>
      <p:sp>
        <p:nvSpPr>
          <p:cNvPr id="117" name="Google Shape;117;p16">
            <a:extLst>
              <a:ext uri="{FF2B5EF4-FFF2-40B4-BE49-F238E27FC236}">
                <a16:creationId xmlns:a16="http://schemas.microsoft.com/office/drawing/2014/main" id="{CEB9742B-A18D-AD80-0B05-85B0F47EE6C9}"/>
              </a:ext>
            </a:extLst>
          </p:cNvPr>
          <p:cNvSpPr txBox="1"/>
          <p:nvPr/>
        </p:nvSpPr>
        <p:spPr>
          <a:xfrm>
            <a:off x="275213" y="1102925"/>
            <a:ext cx="6836852" cy="30064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algn="just"/>
            <a:r>
              <a:rPr lang="es-MX" sz="1450" b="1" noProof="1">
                <a:solidFill>
                  <a:schemeClr val="accent1">
                    <a:lumMod val="75000"/>
                  </a:schemeClr>
                </a:solidFill>
                <a:latin typeface="Barlow" pitchFamily="2" charset="77"/>
              </a:rPr>
              <a:t>SSL (</a:t>
            </a:r>
            <a:r>
              <a:rPr lang="es-MX" dirty="0"/>
              <a:t>Secure Sockets Layer</a:t>
            </a:r>
            <a:r>
              <a:rPr lang="es-MX" sz="1450" b="1" noProof="1">
                <a:solidFill>
                  <a:schemeClr val="accent1">
                    <a:lumMod val="75000"/>
                  </a:schemeClr>
                </a:solidFill>
                <a:latin typeface="Barlow" pitchFamily="2" charset="77"/>
              </a:rPr>
              <a:t>): </a:t>
            </a:r>
            <a:r>
              <a:rPr lang="es-MX" sz="1450" noProof="1">
                <a:solidFill>
                  <a:srgbClr val="666666"/>
                </a:solidFill>
                <a:latin typeface="Barlow" pitchFamily="2" charset="77"/>
              </a:rPr>
              <a:t> es una tecnología estandarizada que permite cifrar el tráfico de datos entre un navegador web y un sitio web (o entre dos servidores web), protegiendo así la conexión. Esto impide que un hacker pueda ver o interceptar la información que se transmite de un punto a otro, la cual puede contener datos personales o financieros.</a:t>
            </a:r>
          </a:p>
          <a:p>
            <a:pPr algn="just"/>
            <a:endParaRPr lang="es-MX" sz="1450" b="1" noProof="1">
              <a:solidFill>
                <a:srgbClr val="666666"/>
              </a:solidFill>
              <a:latin typeface="Barlow" pitchFamily="2" charset="77"/>
            </a:endParaRPr>
          </a:p>
          <a:p>
            <a:pPr algn="just"/>
            <a:r>
              <a:rPr lang="es-MX" sz="1450" b="1" noProof="1">
                <a:solidFill>
                  <a:schemeClr val="accent1">
                    <a:lumMod val="75000"/>
                  </a:schemeClr>
                </a:solidFill>
                <a:latin typeface="Barlow" pitchFamily="2" charset="77"/>
              </a:rPr>
              <a:t>TLS (</a:t>
            </a:r>
            <a:r>
              <a:rPr lang="es-MX" sz="1450" noProof="1">
                <a:solidFill>
                  <a:schemeClr val="tx1"/>
                </a:solidFill>
                <a:latin typeface="Barlow" pitchFamily="2" charset="77"/>
              </a:rPr>
              <a:t>Secure Sockets Layer</a:t>
            </a:r>
            <a:r>
              <a:rPr lang="es-MX" sz="1450" b="1" noProof="1">
                <a:solidFill>
                  <a:schemeClr val="tx1"/>
                </a:solidFill>
                <a:latin typeface="Barlow" pitchFamily="2" charset="77"/>
              </a:rPr>
              <a:t>) </a:t>
            </a:r>
            <a:r>
              <a:rPr lang="es-MX" sz="1450" noProof="1">
                <a:solidFill>
                  <a:srgbClr val="666666"/>
                </a:solidFill>
                <a:latin typeface="Barlow" pitchFamily="2" charset="77"/>
              </a:rPr>
              <a:t>es una versión actualizada y más segura de SSL. Aunque seguimos refiriéndonos a nuestros certificados de seguridad como «certificados SSL» porque ese es el término más extendido, Actualmente se utiliza la tecnología TLS más moderna y de plena confianza.</a:t>
            </a:r>
          </a:p>
          <a:p>
            <a:pPr algn="just"/>
            <a:endParaRPr lang="es-MX" sz="1450" noProof="1">
              <a:solidFill>
                <a:srgbClr val="666666"/>
              </a:solidFill>
              <a:latin typeface="Barlow" pitchFamily="2" charset="77"/>
            </a:endParaRPr>
          </a:p>
          <a:p>
            <a:pPr algn="just"/>
            <a:r>
              <a:rPr lang="es-MX" sz="1450" noProof="1">
                <a:solidFill>
                  <a:srgbClr val="666666"/>
                </a:solidFill>
                <a:latin typeface="Barlow" pitchFamily="2" charset="77"/>
              </a:rPr>
              <a:t>Si aparecen las letras HTTPS al principio de la dirección (URL) de un sitio web, dicho sitio está protegido por un certificado SSL o TLS.</a:t>
            </a:r>
          </a:p>
          <a:p>
            <a:pPr algn="just"/>
            <a:endParaRPr lang="es-MX" sz="1450" noProof="1">
              <a:solidFill>
                <a:srgbClr val="666666"/>
              </a:solidFill>
              <a:latin typeface="Barlow" pitchFamily="2" charset="77"/>
            </a:endParaRPr>
          </a:p>
          <a:p>
            <a:pPr algn="just"/>
            <a:r>
              <a:rPr lang="es-MX" sz="1450" noProof="1">
                <a:solidFill>
                  <a:srgbClr val="666666"/>
                </a:solidFill>
                <a:latin typeface="Barlow" pitchFamily="2" charset="77"/>
              </a:rPr>
              <a:t>HTTP + TLS = </a:t>
            </a:r>
            <a:r>
              <a:rPr lang="es-MX" sz="1450" b="1" noProof="1">
                <a:solidFill>
                  <a:srgbClr val="666666"/>
                </a:solidFill>
                <a:latin typeface="Barlow" pitchFamily="2" charset="77"/>
              </a:rPr>
              <a:t>HTTPS.</a:t>
            </a:r>
          </a:p>
        </p:txBody>
      </p:sp>
      <p:sp>
        <p:nvSpPr>
          <p:cNvPr id="2" name="Google Shape;164;p28">
            <a:extLst>
              <a:ext uri="{FF2B5EF4-FFF2-40B4-BE49-F238E27FC236}">
                <a16:creationId xmlns:a16="http://schemas.microsoft.com/office/drawing/2014/main" id="{2C8CE215-4156-E3A3-980A-CC2D980354F3}"/>
              </a:ext>
            </a:extLst>
          </p:cNvPr>
          <p:cNvSpPr txBox="1">
            <a:spLocks/>
          </p:cNvSpPr>
          <p:nvPr/>
        </p:nvSpPr>
        <p:spPr>
          <a:xfrm>
            <a:off x="291308" y="247975"/>
            <a:ext cx="6562074" cy="6457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buSzPts val="990"/>
            </a:pPr>
            <a:r>
              <a:rPr lang="es-MX" sz="2720" noProof="1">
                <a:solidFill>
                  <a:schemeClr val="accent4"/>
                </a:solidFill>
                <a:latin typeface="Barlow Medium"/>
                <a:ea typeface="Barlow Medium"/>
                <a:cs typeface="Barlow Medium"/>
                <a:sym typeface="Barlow Medium"/>
              </a:rPr>
              <a:t>QUE ES </a:t>
            </a:r>
            <a:r>
              <a:rPr lang="es-MX" sz="2720" noProof="1">
                <a:solidFill>
                  <a:schemeClr val="dk2"/>
                </a:solidFill>
                <a:latin typeface="Barlow Medium"/>
                <a:ea typeface="Barlow Medium"/>
                <a:cs typeface="Barlow Medium"/>
                <a:sym typeface="Barlow Medium"/>
              </a:rPr>
              <a:t>SSL Y TLS</a:t>
            </a:r>
          </a:p>
        </p:txBody>
      </p:sp>
      <p:sp>
        <p:nvSpPr>
          <p:cNvPr id="3" name="Google Shape;88;p16">
            <a:extLst>
              <a:ext uri="{FF2B5EF4-FFF2-40B4-BE49-F238E27FC236}">
                <a16:creationId xmlns:a16="http://schemas.microsoft.com/office/drawing/2014/main" id="{E2134A85-E1CD-81C5-7795-402824422D91}"/>
              </a:ext>
            </a:extLst>
          </p:cNvPr>
          <p:cNvSpPr/>
          <p:nvPr/>
        </p:nvSpPr>
        <p:spPr>
          <a:xfrm>
            <a:off x="7319246" y="2051708"/>
            <a:ext cx="1383900" cy="1383900"/>
          </a:xfrm>
          <a:prstGeom prst="ellipse">
            <a:avLst/>
          </a:prstGeom>
          <a:noFill/>
          <a:ln w="19050" cap="flat" cmpd="sng">
            <a:solidFill>
              <a:srgbClr val="9FC5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s-MX" noProof="1"/>
          </a:p>
        </p:txBody>
      </p:sp>
      <p:pic>
        <p:nvPicPr>
          <p:cNvPr id="1026" name="Picture 2" descr="mTLS Explained | Beeceptor">
            <a:extLst>
              <a:ext uri="{FF2B5EF4-FFF2-40B4-BE49-F238E27FC236}">
                <a16:creationId xmlns:a16="http://schemas.microsoft.com/office/drawing/2014/main" id="{C82CDED1-F2B4-4665-9C58-09EF1023459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53382" y="2213716"/>
            <a:ext cx="2196821" cy="12577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34483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5">
          <a:extLst>
            <a:ext uri="{FF2B5EF4-FFF2-40B4-BE49-F238E27FC236}">
              <a16:creationId xmlns:a16="http://schemas.microsoft.com/office/drawing/2014/main" id="{CCC1D5A7-BA9C-BBAA-049B-D16BD78A03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6">
            <a:extLst>
              <a:ext uri="{FF2B5EF4-FFF2-40B4-BE49-F238E27FC236}">
                <a16:creationId xmlns:a16="http://schemas.microsoft.com/office/drawing/2014/main" id="{04F074A5-8FA2-6B27-A3CD-EF21B8ACFAD6}"/>
              </a:ext>
            </a:extLst>
          </p:cNvPr>
          <p:cNvSpPr/>
          <p:nvPr/>
        </p:nvSpPr>
        <p:spPr>
          <a:xfrm>
            <a:off x="7319246" y="2051708"/>
            <a:ext cx="1383900" cy="1383900"/>
          </a:xfrm>
          <a:prstGeom prst="ellipse">
            <a:avLst/>
          </a:prstGeom>
          <a:noFill/>
          <a:ln w="19050" cap="flat" cmpd="sng">
            <a:solidFill>
              <a:srgbClr val="9FC5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s-MX" noProof="1"/>
          </a:p>
        </p:txBody>
      </p:sp>
      <p:sp>
        <p:nvSpPr>
          <p:cNvPr id="89" name="Google Shape;89;p16">
            <a:extLst>
              <a:ext uri="{FF2B5EF4-FFF2-40B4-BE49-F238E27FC236}">
                <a16:creationId xmlns:a16="http://schemas.microsoft.com/office/drawing/2014/main" id="{D1720E7F-850B-4860-13C2-0F139383F4CC}"/>
              </a:ext>
            </a:extLst>
          </p:cNvPr>
          <p:cNvSpPr/>
          <p:nvPr/>
        </p:nvSpPr>
        <p:spPr>
          <a:xfrm>
            <a:off x="7733608" y="2549032"/>
            <a:ext cx="1242300" cy="1242300"/>
          </a:xfrm>
          <a:prstGeom prst="ellipse">
            <a:avLst/>
          </a:prstGeom>
          <a:solidFill>
            <a:srgbClr val="CC0000">
              <a:alpha val="633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s-MX" noProof="1"/>
          </a:p>
        </p:txBody>
      </p:sp>
      <p:sp>
        <p:nvSpPr>
          <p:cNvPr id="92" name="Google Shape;92;p16">
            <a:extLst>
              <a:ext uri="{FF2B5EF4-FFF2-40B4-BE49-F238E27FC236}">
                <a16:creationId xmlns:a16="http://schemas.microsoft.com/office/drawing/2014/main" id="{286BCA19-FFA0-343D-61D7-728DFF8A3F7E}"/>
              </a:ext>
            </a:extLst>
          </p:cNvPr>
          <p:cNvSpPr/>
          <p:nvPr/>
        </p:nvSpPr>
        <p:spPr>
          <a:xfrm>
            <a:off x="4945074" y="3456380"/>
            <a:ext cx="1474500" cy="1474500"/>
          </a:xfrm>
          <a:prstGeom prst="ellipse">
            <a:avLst/>
          </a:prstGeom>
          <a:solidFill>
            <a:srgbClr val="FFE599">
              <a:alpha val="2468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s-MX" noProof="1"/>
          </a:p>
        </p:txBody>
      </p:sp>
      <p:sp>
        <p:nvSpPr>
          <p:cNvPr id="93" name="Google Shape;93;p16">
            <a:extLst>
              <a:ext uri="{FF2B5EF4-FFF2-40B4-BE49-F238E27FC236}">
                <a16:creationId xmlns:a16="http://schemas.microsoft.com/office/drawing/2014/main" id="{F3E9896D-DA0B-6303-8870-9CC5422896FA}"/>
              </a:ext>
            </a:extLst>
          </p:cNvPr>
          <p:cNvSpPr/>
          <p:nvPr/>
        </p:nvSpPr>
        <p:spPr>
          <a:xfrm>
            <a:off x="6988025" y="3863083"/>
            <a:ext cx="1194000" cy="1194000"/>
          </a:xfrm>
          <a:prstGeom prst="ellipse">
            <a:avLst/>
          </a:prstGeom>
          <a:solidFill>
            <a:srgbClr val="FF0000">
              <a:alpha val="696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s-MX" noProof="1"/>
          </a:p>
        </p:txBody>
      </p:sp>
      <p:sp>
        <p:nvSpPr>
          <p:cNvPr id="2" name="Google Shape;164;p28">
            <a:extLst>
              <a:ext uri="{FF2B5EF4-FFF2-40B4-BE49-F238E27FC236}">
                <a16:creationId xmlns:a16="http://schemas.microsoft.com/office/drawing/2014/main" id="{762928ED-D056-AA7E-34D1-DADBC2C42BDA}"/>
              </a:ext>
            </a:extLst>
          </p:cNvPr>
          <p:cNvSpPr txBox="1">
            <a:spLocks/>
          </p:cNvSpPr>
          <p:nvPr/>
        </p:nvSpPr>
        <p:spPr>
          <a:xfrm>
            <a:off x="291308" y="247975"/>
            <a:ext cx="6562074" cy="6457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buSzPts val="990"/>
            </a:pPr>
            <a:r>
              <a:rPr lang="es-MX" sz="2720" noProof="1">
                <a:solidFill>
                  <a:schemeClr val="accent4"/>
                </a:solidFill>
                <a:latin typeface="Barlow Medium"/>
                <a:ea typeface="Barlow Medium"/>
                <a:cs typeface="Barlow Medium"/>
                <a:sym typeface="Barlow Medium"/>
              </a:rPr>
              <a:t>HANDSHAKE </a:t>
            </a:r>
            <a:r>
              <a:rPr lang="es-MX" sz="2720" noProof="1">
                <a:solidFill>
                  <a:schemeClr val="dk2"/>
                </a:solidFill>
                <a:latin typeface="Barlow Medium"/>
                <a:ea typeface="Barlow Medium"/>
                <a:cs typeface="Barlow Medium"/>
                <a:sym typeface="Barlow Medium"/>
              </a:rPr>
              <a:t>TLS</a:t>
            </a:r>
          </a:p>
        </p:txBody>
      </p:sp>
      <p:pic>
        <p:nvPicPr>
          <p:cNvPr id="4" name="Picture 2" descr="mTLS Explained | Beeceptor">
            <a:extLst>
              <a:ext uri="{FF2B5EF4-FFF2-40B4-BE49-F238E27FC236}">
                <a16:creationId xmlns:a16="http://schemas.microsoft.com/office/drawing/2014/main" id="{48ACE9AD-00BC-D779-0945-E0B1F9DFA3E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53382" y="2213716"/>
            <a:ext cx="2196821" cy="12577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4BE56335-8CC8-7635-A218-0E2DAC268A34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r="4733"/>
          <a:stretch>
            <a:fillRect/>
          </a:stretch>
        </p:blipFill>
        <p:spPr>
          <a:xfrm>
            <a:off x="367761" y="1093068"/>
            <a:ext cx="6877190" cy="31181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965913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5">
          <a:extLst>
            <a:ext uri="{FF2B5EF4-FFF2-40B4-BE49-F238E27FC236}">
              <a16:creationId xmlns:a16="http://schemas.microsoft.com/office/drawing/2014/main" id="{0BE4D96E-BCEF-32D6-DC00-07AA710E44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6">
            <a:extLst>
              <a:ext uri="{FF2B5EF4-FFF2-40B4-BE49-F238E27FC236}">
                <a16:creationId xmlns:a16="http://schemas.microsoft.com/office/drawing/2014/main" id="{61370C92-CBA5-017E-D24E-AB8C5E117BE4}"/>
              </a:ext>
            </a:extLst>
          </p:cNvPr>
          <p:cNvSpPr/>
          <p:nvPr/>
        </p:nvSpPr>
        <p:spPr>
          <a:xfrm>
            <a:off x="7319246" y="2051708"/>
            <a:ext cx="1383900" cy="1383900"/>
          </a:xfrm>
          <a:prstGeom prst="ellipse">
            <a:avLst/>
          </a:prstGeom>
          <a:noFill/>
          <a:ln w="19050" cap="flat" cmpd="sng">
            <a:solidFill>
              <a:srgbClr val="9FC5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s-MX" noProof="1"/>
          </a:p>
        </p:txBody>
      </p:sp>
      <p:sp>
        <p:nvSpPr>
          <p:cNvPr id="89" name="Google Shape;89;p16">
            <a:extLst>
              <a:ext uri="{FF2B5EF4-FFF2-40B4-BE49-F238E27FC236}">
                <a16:creationId xmlns:a16="http://schemas.microsoft.com/office/drawing/2014/main" id="{37BE93DD-9AFD-4948-AE01-13B7BFA87F59}"/>
              </a:ext>
            </a:extLst>
          </p:cNvPr>
          <p:cNvSpPr/>
          <p:nvPr/>
        </p:nvSpPr>
        <p:spPr>
          <a:xfrm>
            <a:off x="7733608" y="2549032"/>
            <a:ext cx="1242300" cy="1242300"/>
          </a:xfrm>
          <a:prstGeom prst="ellipse">
            <a:avLst/>
          </a:prstGeom>
          <a:solidFill>
            <a:srgbClr val="CC0000">
              <a:alpha val="633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s-MX" noProof="1"/>
          </a:p>
        </p:txBody>
      </p:sp>
      <p:sp>
        <p:nvSpPr>
          <p:cNvPr id="92" name="Google Shape;92;p16">
            <a:extLst>
              <a:ext uri="{FF2B5EF4-FFF2-40B4-BE49-F238E27FC236}">
                <a16:creationId xmlns:a16="http://schemas.microsoft.com/office/drawing/2014/main" id="{2D943993-B498-CF5D-537D-6AE889C26C02}"/>
              </a:ext>
            </a:extLst>
          </p:cNvPr>
          <p:cNvSpPr/>
          <p:nvPr/>
        </p:nvSpPr>
        <p:spPr>
          <a:xfrm>
            <a:off x="4945074" y="3456380"/>
            <a:ext cx="1474500" cy="1474500"/>
          </a:xfrm>
          <a:prstGeom prst="ellipse">
            <a:avLst/>
          </a:prstGeom>
          <a:solidFill>
            <a:srgbClr val="FFE599">
              <a:alpha val="2468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s-MX" noProof="1"/>
          </a:p>
        </p:txBody>
      </p:sp>
      <p:sp>
        <p:nvSpPr>
          <p:cNvPr id="93" name="Google Shape;93;p16">
            <a:extLst>
              <a:ext uri="{FF2B5EF4-FFF2-40B4-BE49-F238E27FC236}">
                <a16:creationId xmlns:a16="http://schemas.microsoft.com/office/drawing/2014/main" id="{88B5BD3F-CF87-72E3-5C04-5B82B42E6163}"/>
              </a:ext>
            </a:extLst>
          </p:cNvPr>
          <p:cNvSpPr/>
          <p:nvPr/>
        </p:nvSpPr>
        <p:spPr>
          <a:xfrm>
            <a:off x="6988025" y="3863083"/>
            <a:ext cx="1194000" cy="1194000"/>
          </a:xfrm>
          <a:prstGeom prst="ellipse">
            <a:avLst/>
          </a:prstGeom>
          <a:solidFill>
            <a:srgbClr val="FF0000">
              <a:alpha val="696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s-MX" noProof="1"/>
          </a:p>
        </p:txBody>
      </p:sp>
      <p:sp>
        <p:nvSpPr>
          <p:cNvPr id="2" name="Google Shape;164;p28">
            <a:extLst>
              <a:ext uri="{FF2B5EF4-FFF2-40B4-BE49-F238E27FC236}">
                <a16:creationId xmlns:a16="http://schemas.microsoft.com/office/drawing/2014/main" id="{F0A18286-7ED0-3766-9FEA-104002911E86}"/>
              </a:ext>
            </a:extLst>
          </p:cNvPr>
          <p:cNvSpPr txBox="1">
            <a:spLocks/>
          </p:cNvSpPr>
          <p:nvPr/>
        </p:nvSpPr>
        <p:spPr>
          <a:xfrm>
            <a:off x="291308" y="247975"/>
            <a:ext cx="6562074" cy="6457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buSzPts val="990"/>
            </a:pPr>
            <a:r>
              <a:rPr lang="es-MX" sz="2720" noProof="1">
                <a:solidFill>
                  <a:schemeClr val="accent4"/>
                </a:solidFill>
                <a:latin typeface="Barlow Medium"/>
                <a:ea typeface="Barlow Medium"/>
                <a:cs typeface="Barlow Medium"/>
                <a:sym typeface="Barlow Medium"/>
              </a:rPr>
              <a:t>HANDSHAKE </a:t>
            </a:r>
            <a:r>
              <a:rPr lang="es-MX" sz="2720" noProof="1">
                <a:solidFill>
                  <a:schemeClr val="dk2"/>
                </a:solidFill>
                <a:latin typeface="Barlow Medium"/>
                <a:ea typeface="Barlow Medium"/>
                <a:cs typeface="Barlow Medium"/>
                <a:sym typeface="Barlow Medium"/>
              </a:rPr>
              <a:t>mTLS </a:t>
            </a:r>
          </a:p>
        </p:txBody>
      </p:sp>
      <p:pic>
        <p:nvPicPr>
          <p:cNvPr id="4" name="Picture 2" descr="mTLS Explained | Beeceptor">
            <a:extLst>
              <a:ext uri="{FF2B5EF4-FFF2-40B4-BE49-F238E27FC236}">
                <a16:creationId xmlns:a16="http://schemas.microsoft.com/office/drawing/2014/main" id="{1FA00191-0850-FD9E-6523-B2A88866486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53382" y="2213716"/>
            <a:ext cx="2196821" cy="12577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Imagen 2">
            <a:extLst>
              <a:ext uri="{FF2B5EF4-FFF2-40B4-BE49-F238E27FC236}">
                <a16:creationId xmlns:a16="http://schemas.microsoft.com/office/drawing/2014/main" id="{ED47B310-B321-3017-39A0-D2155434718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0749" y="1169596"/>
            <a:ext cx="6914202" cy="29985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710848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5">
          <a:extLst>
            <a:ext uri="{FF2B5EF4-FFF2-40B4-BE49-F238E27FC236}">
              <a16:creationId xmlns:a16="http://schemas.microsoft.com/office/drawing/2014/main" id="{E892962F-5FBB-3AE6-791B-568964DCC3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6">
            <a:extLst>
              <a:ext uri="{FF2B5EF4-FFF2-40B4-BE49-F238E27FC236}">
                <a16:creationId xmlns:a16="http://schemas.microsoft.com/office/drawing/2014/main" id="{81482FA0-7D7C-3E0C-4678-57C8A8273FDA}"/>
              </a:ext>
            </a:extLst>
          </p:cNvPr>
          <p:cNvSpPr/>
          <p:nvPr/>
        </p:nvSpPr>
        <p:spPr>
          <a:xfrm>
            <a:off x="7585025" y="2072480"/>
            <a:ext cx="1383900" cy="1383900"/>
          </a:xfrm>
          <a:prstGeom prst="ellipse">
            <a:avLst/>
          </a:prstGeom>
          <a:noFill/>
          <a:ln w="19050" cap="flat" cmpd="sng">
            <a:solidFill>
              <a:srgbClr val="9FC5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s-MX" noProof="1"/>
          </a:p>
        </p:txBody>
      </p:sp>
      <p:sp>
        <p:nvSpPr>
          <p:cNvPr id="89" name="Google Shape;89;p16">
            <a:extLst>
              <a:ext uri="{FF2B5EF4-FFF2-40B4-BE49-F238E27FC236}">
                <a16:creationId xmlns:a16="http://schemas.microsoft.com/office/drawing/2014/main" id="{959BA256-63F9-975D-BE67-DE78ACAC7200}"/>
              </a:ext>
            </a:extLst>
          </p:cNvPr>
          <p:cNvSpPr/>
          <p:nvPr/>
        </p:nvSpPr>
        <p:spPr>
          <a:xfrm>
            <a:off x="7733608" y="2549032"/>
            <a:ext cx="1242300" cy="1242300"/>
          </a:xfrm>
          <a:prstGeom prst="ellipse">
            <a:avLst/>
          </a:prstGeom>
          <a:solidFill>
            <a:srgbClr val="CC0000">
              <a:alpha val="633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s-MX" noProof="1"/>
          </a:p>
        </p:txBody>
      </p:sp>
      <p:sp>
        <p:nvSpPr>
          <p:cNvPr id="92" name="Google Shape;92;p16">
            <a:extLst>
              <a:ext uri="{FF2B5EF4-FFF2-40B4-BE49-F238E27FC236}">
                <a16:creationId xmlns:a16="http://schemas.microsoft.com/office/drawing/2014/main" id="{659DB0BB-EF69-4516-6967-0E68DE8E710C}"/>
              </a:ext>
            </a:extLst>
          </p:cNvPr>
          <p:cNvSpPr/>
          <p:nvPr/>
        </p:nvSpPr>
        <p:spPr>
          <a:xfrm>
            <a:off x="4945074" y="3456380"/>
            <a:ext cx="1474500" cy="1474500"/>
          </a:xfrm>
          <a:prstGeom prst="ellipse">
            <a:avLst/>
          </a:prstGeom>
          <a:solidFill>
            <a:srgbClr val="FFE599">
              <a:alpha val="2468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s-MX" noProof="1"/>
          </a:p>
        </p:txBody>
      </p:sp>
      <p:sp>
        <p:nvSpPr>
          <p:cNvPr id="93" name="Google Shape;93;p16">
            <a:extLst>
              <a:ext uri="{FF2B5EF4-FFF2-40B4-BE49-F238E27FC236}">
                <a16:creationId xmlns:a16="http://schemas.microsoft.com/office/drawing/2014/main" id="{FA11592D-C0FF-4699-7000-CCD5366B8CC1}"/>
              </a:ext>
            </a:extLst>
          </p:cNvPr>
          <p:cNvSpPr/>
          <p:nvPr/>
        </p:nvSpPr>
        <p:spPr>
          <a:xfrm>
            <a:off x="6988025" y="3863083"/>
            <a:ext cx="1194000" cy="1194000"/>
          </a:xfrm>
          <a:prstGeom prst="ellipse">
            <a:avLst/>
          </a:prstGeom>
          <a:solidFill>
            <a:srgbClr val="FF0000">
              <a:alpha val="696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s-MX" noProof="1"/>
          </a:p>
        </p:txBody>
      </p:sp>
      <p:sp>
        <p:nvSpPr>
          <p:cNvPr id="2" name="Google Shape;164;p28">
            <a:extLst>
              <a:ext uri="{FF2B5EF4-FFF2-40B4-BE49-F238E27FC236}">
                <a16:creationId xmlns:a16="http://schemas.microsoft.com/office/drawing/2014/main" id="{4961D79C-3E5C-BDE5-E8C4-14ECC4253382}"/>
              </a:ext>
            </a:extLst>
          </p:cNvPr>
          <p:cNvSpPr txBox="1">
            <a:spLocks/>
          </p:cNvSpPr>
          <p:nvPr/>
        </p:nvSpPr>
        <p:spPr>
          <a:xfrm>
            <a:off x="291308" y="247975"/>
            <a:ext cx="6562074" cy="6457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buSzPts val="990"/>
            </a:pPr>
            <a:r>
              <a:rPr lang="es-MX" sz="2720" noProof="1">
                <a:solidFill>
                  <a:schemeClr val="accent4"/>
                </a:solidFill>
                <a:latin typeface="Barlow Medium"/>
                <a:ea typeface="Barlow Medium"/>
                <a:cs typeface="Barlow Medium"/>
                <a:sym typeface="Barlow Medium"/>
              </a:rPr>
              <a:t>VERSIONES </a:t>
            </a:r>
            <a:r>
              <a:rPr lang="es-MX" sz="2720" noProof="1">
                <a:solidFill>
                  <a:schemeClr val="dk2"/>
                </a:solidFill>
                <a:latin typeface="Barlow Medium"/>
                <a:ea typeface="Barlow Medium"/>
                <a:cs typeface="Barlow Medium"/>
                <a:sym typeface="Barlow Medium"/>
              </a:rPr>
              <a:t>SSL / TLS </a:t>
            </a:r>
          </a:p>
        </p:txBody>
      </p:sp>
      <p:pic>
        <p:nvPicPr>
          <p:cNvPr id="4" name="Picture 2" descr="mTLS Explained | Beeceptor">
            <a:extLst>
              <a:ext uri="{FF2B5EF4-FFF2-40B4-BE49-F238E27FC236}">
                <a16:creationId xmlns:a16="http://schemas.microsoft.com/office/drawing/2014/main" id="{9086B6AA-961C-4EA4-1144-82C20BF342B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78564" y="2234488"/>
            <a:ext cx="2196821" cy="12577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9598CE4E-C510-B670-19E2-89AC4B9ED577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961" t="3529" b="22678"/>
          <a:stretch>
            <a:fillRect/>
          </a:stretch>
        </p:blipFill>
        <p:spPr>
          <a:xfrm>
            <a:off x="172999" y="1183729"/>
            <a:ext cx="7323176" cy="32263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314737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5">
          <a:extLst>
            <a:ext uri="{FF2B5EF4-FFF2-40B4-BE49-F238E27FC236}">
              <a16:creationId xmlns:a16="http://schemas.microsoft.com/office/drawing/2014/main" id="{006AADCB-4737-E806-3A1B-F5EC01C542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6">
            <a:extLst>
              <a:ext uri="{FF2B5EF4-FFF2-40B4-BE49-F238E27FC236}">
                <a16:creationId xmlns:a16="http://schemas.microsoft.com/office/drawing/2014/main" id="{B1334339-0BDB-9E08-DA46-75AF1D589C30}"/>
              </a:ext>
            </a:extLst>
          </p:cNvPr>
          <p:cNvSpPr/>
          <p:nvPr/>
        </p:nvSpPr>
        <p:spPr>
          <a:xfrm>
            <a:off x="5206662" y="1102925"/>
            <a:ext cx="3581700" cy="3581700"/>
          </a:xfrm>
          <a:prstGeom prst="ellipse">
            <a:avLst/>
          </a:prstGeom>
          <a:noFill/>
          <a:ln w="19050" cap="flat" cmpd="sng">
            <a:solidFill>
              <a:srgbClr val="F0F8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noProof="1"/>
              <a:t>          </a:t>
            </a:r>
          </a:p>
        </p:txBody>
      </p:sp>
      <p:sp>
        <p:nvSpPr>
          <p:cNvPr id="89" name="Google Shape;89;p16">
            <a:extLst>
              <a:ext uri="{FF2B5EF4-FFF2-40B4-BE49-F238E27FC236}">
                <a16:creationId xmlns:a16="http://schemas.microsoft.com/office/drawing/2014/main" id="{43110C9F-B07D-A123-1A66-5550028CDE26}"/>
              </a:ext>
            </a:extLst>
          </p:cNvPr>
          <p:cNvSpPr/>
          <p:nvPr/>
        </p:nvSpPr>
        <p:spPr>
          <a:xfrm>
            <a:off x="7733608" y="2549032"/>
            <a:ext cx="1242300" cy="1242300"/>
          </a:xfrm>
          <a:prstGeom prst="ellipse">
            <a:avLst/>
          </a:prstGeom>
          <a:solidFill>
            <a:srgbClr val="CC0000">
              <a:alpha val="633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s-MX" noProof="1"/>
          </a:p>
        </p:txBody>
      </p:sp>
      <p:sp>
        <p:nvSpPr>
          <p:cNvPr id="92" name="Google Shape;92;p16">
            <a:extLst>
              <a:ext uri="{FF2B5EF4-FFF2-40B4-BE49-F238E27FC236}">
                <a16:creationId xmlns:a16="http://schemas.microsoft.com/office/drawing/2014/main" id="{4126ECB0-D301-D92D-14FA-6B98211DDED5}"/>
              </a:ext>
            </a:extLst>
          </p:cNvPr>
          <p:cNvSpPr/>
          <p:nvPr/>
        </p:nvSpPr>
        <p:spPr>
          <a:xfrm>
            <a:off x="4945074" y="3456380"/>
            <a:ext cx="1474500" cy="1474500"/>
          </a:xfrm>
          <a:prstGeom prst="ellipse">
            <a:avLst/>
          </a:prstGeom>
          <a:solidFill>
            <a:srgbClr val="FFE599">
              <a:alpha val="2468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s-MX" noProof="1"/>
          </a:p>
        </p:txBody>
      </p:sp>
      <p:sp>
        <p:nvSpPr>
          <p:cNvPr id="93" name="Google Shape;93;p16">
            <a:extLst>
              <a:ext uri="{FF2B5EF4-FFF2-40B4-BE49-F238E27FC236}">
                <a16:creationId xmlns:a16="http://schemas.microsoft.com/office/drawing/2014/main" id="{211B74CF-517B-3F58-6871-6497CDD32412}"/>
              </a:ext>
            </a:extLst>
          </p:cNvPr>
          <p:cNvSpPr/>
          <p:nvPr/>
        </p:nvSpPr>
        <p:spPr>
          <a:xfrm>
            <a:off x="6988025" y="3863083"/>
            <a:ext cx="1194000" cy="1194000"/>
          </a:xfrm>
          <a:prstGeom prst="ellipse">
            <a:avLst/>
          </a:prstGeom>
          <a:solidFill>
            <a:srgbClr val="FF0000">
              <a:alpha val="696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s-MX" noProof="1"/>
          </a:p>
        </p:txBody>
      </p:sp>
      <p:sp>
        <p:nvSpPr>
          <p:cNvPr id="117" name="Google Shape;117;p16">
            <a:extLst>
              <a:ext uri="{FF2B5EF4-FFF2-40B4-BE49-F238E27FC236}">
                <a16:creationId xmlns:a16="http://schemas.microsoft.com/office/drawing/2014/main" id="{9541841D-4AFA-4874-B60F-1C68E6BFFF42}"/>
              </a:ext>
            </a:extLst>
          </p:cNvPr>
          <p:cNvSpPr txBox="1"/>
          <p:nvPr/>
        </p:nvSpPr>
        <p:spPr>
          <a:xfrm>
            <a:off x="355638" y="1082235"/>
            <a:ext cx="8081727" cy="358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algn="just"/>
            <a:r>
              <a:rPr lang="es-MX" sz="1450" b="1" noProof="1">
                <a:solidFill>
                  <a:srgbClr val="666666"/>
                </a:solidFill>
                <a:latin typeface="Barlow" pitchFamily="2" charset="77"/>
              </a:rPr>
              <a:t>1: Client Hello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s-MX" sz="1450" noProof="1">
                <a:solidFill>
                  <a:srgbClr val="666666"/>
                </a:solidFill>
                <a:latin typeface="Barlow" pitchFamily="2" charset="77"/>
              </a:rPr>
              <a:t>El cliente indica que se requiere usar TLS.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s-MX" sz="1450" noProof="1">
                <a:solidFill>
                  <a:srgbClr val="666666"/>
                </a:solidFill>
                <a:latin typeface="Barlow" pitchFamily="2" charset="77"/>
              </a:rPr>
              <a:t>Se envia las versiones TLS que soporta.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s-MX" sz="1450" noProof="1">
                <a:solidFill>
                  <a:srgbClr val="666666"/>
                </a:solidFill>
                <a:latin typeface="Barlow" pitchFamily="2" charset="77"/>
              </a:rPr>
              <a:t>Se envia los algoritmos de cifrado que puede usar.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s-MX" sz="1450" noProof="1">
                <a:solidFill>
                  <a:srgbClr val="666666"/>
                </a:solidFill>
                <a:latin typeface="Barlow" pitchFamily="2" charset="77"/>
              </a:rPr>
              <a:t>Y el dominio al que se requiere conectar.</a:t>
            </a:r>
          </a:p>
          <a:p>
            <a:pPr algn="just"/>
            <a:endParaRPr lang="es-MX" sz="1450" noProof="1">
              <a:solidFill>
                <a:srgbClr val="666666"/>
              </a:solidFill>
              <a:latin typeface="Barlow" pitchFamily="2" charset="77"/>
            </a:endParaRPr>
          </a:p>
          <a:p>
            <a:pPr algn="just"/>
            <a:r>
              <a:rPr lang="es-MX" sz="1450" b="1" noProof="1">
                <a:solidFill>
                  <a:srgbClr val="666666"/>
                </a:solidFill>
                <a:latin typeface="Barlow" pitchFamily="2" charset="77"/>
              </a:rPr>
              <a:t>2: Server Hello</a:t>
            </a:r>
          </a:p>
          <a:p>
            <a:pPr algn="just"/>
            <a:r>
              <a:rPr lang="es-MX" sz="1450" noProof="1">
                <a:solidFill>
                  <a:srgbClr val="666666"/>
                </a:solidFill>
                <a:latin typeface="Barlow" pitchFamily="2" charset="77"/>
              </a:rPr>
              <a:t>El server indica que versión de TLS y que algoritmo se usara</a:t>
            </a:r>
          </a:p>
          <a:p>
            <a:pPr algn="just"/>
            <a:endParaRPr lang="es-MX" sz="1450" noProof="1">
              <a:solidFill>
                <a:srgbClr val="666666"/>
              </a:solidFill>
              <a:latin typeface="Barlow" pitchFamily="2" charset="77"/>
            </a:endParaRPr>
          </a:p>
          <a:p>
            <a:pPr algn="just"/>
            <a:r>
              <a:rPr lang="es-MX" sz="1450" noProof="1">
                <a:solidFill>
                  <a:srgbClr val="666666"/>
                </a:solidFill>
                <a:latin typeface="Barlow" pitchFamily="2" charset="77"/>
              </a:rPr>
              <a:t>Por Ejemplo: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s-MX" sz="1450" noProof="1">
                <a:solidFill>
                  <a:srgbClr val="666666"/>
                </a:solidFill>
                <a:latin typeface="Barlow" pitchFamily="2" charset="77"/>
              </a:rPr>
              <a:t>TLS 1.3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s-MX" sz="1450" noProof="1">
                <a:solidFill>
                  <a:srgbClr val="666666"/>
                </a:solidFill>
                <a:latin typeface="Barlow" pitchFamily="2" charset="77"/>
              </a:rPr>
              <a:t>Algun conjunto de cifrado</a:t>
            </a:r>
          </a:p>
          <a:p>
            <a:pPr algn="just"/>
            <a:endParaRPr lang="es-MX" sz="1450" noProof="1">
              <a:solidFill>
                <a:srgbClr val="666666"/>
              </a:solidFill>
              <a:latin typeface="Barlow" pitchFamily="2" charset="77"/>
            </a:endParaRPr>
          </a:p>
          <a:p>
            <a:pPr algn="just"/>
            <a:r>
              <a:rPr lang="es-MX" sz="1450" noProof="1">
                <a:solidFill>
                  <a:srgbClr val="666666"/>
                </a:solidFill>
                <a:latin typeface="Barlow" pitchFamily="2" charset="77"/>
              </a:rPr>
              <a:t>El cliente y servidor empiezan a ponerse de acuerdo.</a:t>
            </a:r>
          </a:p>
        </p:txBody>
      </p:sp>
      <p:sp>
        <p:nvSpPr>
          <p:cNvPr id="2" name="Google Shape;164;p28">
            <a:extLst>
              <a:ext uri="{FF2B5EF4-FFF2-40B4-BE49-F238E27FC236}">
                <a16:creationId xmlns:a16="http://schemas.microsoft.com/office/drawing/2014/main" id="{BA3357F9-32EB-FC31-C2FC-4B5DA906A59C}"/>
              </a:ext>
            </a:extLst>
          </p:cNvPr>
          <p:cNvSpPr txBox="1">
            <a:spLocks/>
          </p:cNvSpPr>
          <p:nvPr/>
        </p:nvSpPr>
        <p:spPr>
          <a:xfrm>
            <a:off x="291308" y="247975"/>
            <a:ext cx="6562074" cy="6457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buSzPts val="990"/>
            </a:pPr>
            <a:r>
              <a:rPr lang="es-MX" sz="2720" noProof="1">
                <a:solidFill>
                  <a:schemeClr val="accent4"/>
                </a:solidFill>
                <a:latin typeface="Barlow Medium"/>
                <a:ea typeface="Barlow Medium"/>
                <a:cs typeface="Barlow Medium"/>
                <a:sym typeface="Barlow Medium"/>
              </a:rPr>
              <a:t>HANDSHAKE </a:t>
            </a:r>
            <a:r>
              <a:rPr lang="es-MX" sz="2720" noProof="1">
                <a:solidFill>
                  <a:schemeClr val="dk2"/>
                </a:solidFill>
                <a:latin typeface="Barlow Medium"/>
                <a:ea typeface="Barlow Medium"/>
                <a:cs typeface="Barlow Medium"/>
                <a:sym typeface="Barlow Medium"/>
              </a:rPr>
              <a:t>TLS</a:t>
            </a:r>
          </a:p>
        </p:txBody>
      </p:sp>
      <p:sp>
        <p:nvSpPr>
          <p:cNvPr id="3" name="Google Shape;88;p16">
            <a:extLst>
              <a:ext uri="{FF2B5EF4-FFF2-40B4-BE49-F238E27FC236}">
                <a16:creationId xmlns:a16="http://schemas.microsoft.com/office/drawing/2014/main" id="{42ABDA15-F6BC-A147-25C2-18AB19311909}"/>
              </a:ext>
            </a:extLst>
          </p:cNvPr>
          <p:cNvSpPr/>
          <p:nvPr/>
        </p:nvSpPr>
        <p:spPr>
          <a:xfrm>
            <a:off x="7319246" y="2051708"/>
            <a:ext cx="1383900" cy="1383900"/>
          </a:xfrm>
          <a:prstGeom prst="ellipse">
            <a:avLst/>
          </a:prstGeom>
          <a:noFill/>
          <a:ln w="19050" cap="flat" cmpd="sng">
            <a:solidFill>
              <a:srgbClr val="9FC5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s-MX" noProof="1"/>
          </a:p>
        </p:txBody>
      </p:sp>
      <p:pic>
        <p:nvPicPr>
          <p:cNvPr id="5" name="Picture 2" descr="mTLS Explained | Beeceptor">
            <a:extLst>
              <a:ext uri="{FF2B5EF4-FFF2-40B4-BE49-F238E27FC236}">
                <a16:creationId xmlns:a16="http://schemas.microsoft.com/office/drawing/2014/main" id="{D4CE82EA-65AA-DC93-AD29-87B8AAAE506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53382" y="2213716"/>
            <a:ext cx="2196821" cy="12577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3247822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5">
          <a:extLst>
            <a:ext uri="{FF2B5EF4-FFF2-40B4-BE49-F238E27FC236}">
              <a16:creationId xmlns:a16="http://schemas.microsoft.com/office/drawing/2014/main" id="{B7AB63D6-86FB-F220-EDF6-53068E0120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6">
            <a:extLst>
              <a:ext uri="{FF2B5EF4-FFF2-40B4-BE49-F238E27FC236}">
                <a16:creationId xmlns:a16="http://schemas.microsoft.com/office/drawing/2014/main" id="{75AB8F13-3D94-0C9C-175E-521AE04EE0BA}"/>
              </a:ext>
            </a:extLst>
          </p:cNvPr>
          <p:cNvSpPr/>
          <p:nvPr/>
        </p:nvSpPr>
        <p:spPr>
          <a:xfrm>
            <a:off x="5206662" y="1102925"/>
            <a:ext cx="3581700" cy="3581700"/>
          </a:xfrm>
          <a:prstGeom prst="ellipse">
            <a:avLst/>
          </a:prstGeom>
          <a:noFill/>
          <a:ln w="19050" cap="flat" cmpd="sng">
            <a:solidFill>
              <a:srgbClr val="F0F8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noProof="1"/>
              <a:t>          </a:t>
            </a:r>
          </a:p>
        </p:txBody>
      </p:sp>
      <p:sp>
        <p:nvSpPr>
          <p:cNvPr id="89" name="Google Shape;89;p16">
            <a:extLst>
              <a:ext uri="{FF2B5EF4-FFF2-40B4-BE49-F238E27FC236}">
                <a16:creationId xmlns:a16="http://schemas.microsoft.com/office/drawing/2014/main" id="{B290C756-F5F6-5BDB-D717-DACF85707D62}"/>
              </a:ext>
            </a:extLst>
          </p:cNvPr>
          <p:cNvSpPr/>
          <p:nvPr/>
        </p:nvSpPr>
        <p:spPr>
          <a:xfrm>
            <a:off x="7733608" y="2549032"/>
            <a:ext cx="1242300" cy="1242300"/>
          </a:xfrm>
          <a:prstGeom prst="ellipse">
            <a:avLst/>
          </a:prstGeom>
          <a:solidFill>
            <a:srgbClr val="CC0000">
              <a:alpha val="633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s-MX" noProof="1"/>
          </a:p>
        </p:txBody>
      </p:sp>
      <p:sp>
        <p:nvSpPr>
          <p:cNvPr id="92" name="Google Shape;92;p16">
            <a:extLst>
              <a:ext uri="{FF2B5EF4-FFF2-40B4-BE49-F238E27FC236}">
                <a16:creationId xmlns:a16="http://schemas.microsoft.com/office/drawing/2014/main" id="{83E5FD5C-0A53-D177-D74B-1D7BB72CFE32}"/>
              </a:ext>
            </a:extLst>
          </p:cNvPr>
          <p:cNvSpPr/>
          <p:nvPr/>
        </p:nvSpPr>
        <p:spPr>
          <a:xfrm>
            <a:off x="4945074" y="3456380"/>
            <a:ext cx="1474500" cy="1474500"/>
          </a:xfrm>
          <a:prstGeom prst="ellipse">
            <a:avLst/>
          </a:prstGeom>
          <a:solidFill>
            <a:srgbClr val="FFE599">
              <a:alpha val="2468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s-MX" noProof="1"/>
          </a:p>
        </p:txBody>
      </p:sp>
      <p:sp>
        <p:nvSpPr>
          <p:cNvPr id="93" name="Google Shape;93;p16">
            <a:extLst>
              <a:ext uri="{FF2B5EF4-FFF2-40B4-BE49-F238E27FC236}">
                <a16:creationId xmlns:a16="http://schemas.microsoft.com/office/drawing/2014/main" id="{BDBD8E5F-78BA-22D5-7B89-7FF58D9619F9}"/>
              </a:ext>
            </a:extLst>
          </p:cNvPr>
          <p:cNvSpPr/>
          <p:nvPr/>
        </p:nvSpPr>
        <p:spPr>
          <a:xfrm>
            <a:off x="6988025" y="3863083"/>
            <a:ext cx="1194000" cy="1194000"/>
          </a:xfrm>
          <a:prstGeom prst="ellipse">
            <a:avLst/>
          </a:prstGeom>
          <a:solidFill>
            <a:srgbClr val="FF0000">
              <a:alpha val="696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s-MX" noProof="1"/>
          </a:p>
        </p:txBody>
      </p:sp>
      <p:sp>
        <p:nvSpPr>
          <p:cNvPr id="117" name="Google Shape;117;p16">
            <a:extLst>
              <a:ext uri="{FF2B5EF4-FFF2-40B4-BE49-F238E27FC236}">
                <a16:creationId xmlns:a16="http://schemas.microsoft.com/office/drawing/2014/main" id="{E5F7584B-E8AA-1DFD-539B-7636186C1DF3}"/>
              </a:ext>
            </a:extLst>
          </p:cNvPr>
          <p:cNvSpPr txBox="1"/>
          <p:nvPr/>
        </p:nvSpPr>
        <p:spPr>
          <a:xfrm>
            <a:off x="355638" y="1082235"/>
            <a:ext cx="8081727" cy="358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algn="just"/>
            <a:r>
              <a:rPr lang="es-MX" sz="1450" b="1" noProof="1">
                <a:solidFill>
                  <a:srgbClr val="666666"/>
                </a:solidFill>
                <a:latin typeface="Barlow" pitchFamily="2" charset="77"/>
              </a:rPr>
              <a:t>3: El servidor manda certificado</a:t>
            </a:r>
          </a:p>
          <a:p>
            <a:pPr algn="just"/>
            <a:r>
              <a:rPr lang="es-MX" sz="1450" noProof="1">
                <a:solidFill>
                  <a:srgbClr val="666666"/>
                </a:solidFill>
                <a:latin typeface="Barlow" pitchFamily="2" charset="77"/>
              </a:rPr>
              <a:t>Por ejemplo: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s-MX" sz="1450" noProof="1">
                <a:solidFill>
                  <a:srgbClr val="666666"/>
                </a:solidFill>
                <a:latin typeface="Barlow" pitchFamily="2" charset="77"/>
              </a:rPr>
              <a:t>Este servidor pertenece a customer-service.banco.com.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s-MX" sz="1450" noProof="1">
                <a:solidFill>
                  <a:srgbClr val="666666"/>
                </a:solidFill>
                <a:latin typeface="Barlow" pitchFamily="2" charset="77"/>
              </a:rPr>
              <a:t>Fue emitido por esta CA.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s-MX" sz="1450" noProof="1">
                <a:solidFill>
                  <a:srgbClr val="666666"/>
                </a:solidFill>
                <a:latin typeface="Barlow" pitchFamily="2" charset="77"/>
              </a:rPr>
              <a:t>Es válido desde esta fecha hasta esta fecha.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s-MX" sz="1450" noProof="1">
                <a:solidFill>
                  <a:srgbClr val="666666"/>
                </a:solidFill>
                <a:latin typeface="Barlow" pitchFamily="2" charset="77"/>
              </a:rPr>
              <a:t>Esta es su clave pública.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s-MX" sz="1450" noProof="1">
              <a:solidFill>
                <a:srgbClr val="666666"/>
              </a:solidFill>
              <a:latin typeface="Barlow" pitchFamily="2" charset="77"/>
            </a:endParaRPr>
          </a:p>
          <a:p>
            <a:pPr algn="just"/>
            <a:r>
              <a:rPr lang="es-MX" sz="1450" b="1" noProof="1">
                <a:solidFill>
                  <a:srgbClr val="666666"/>
                </a:solidFill>
                <a:latin typeface="Barlow" pitchFamily="2" charset="77"/>
              </a:rPr>
              <a:t>4: El cliente valida certificado</a:t>
            </a:r>
          </a:p>
          <a:p>
            <a:pPr algn="just"/>
            <a:endParaRPr lang="es-MX" sz="1450" noProof="1">
              <a:solidFill>
                <a:srgbClr val="666666"/>
              </a:solidFill>
              <a:latin typeface="Barlow" pitchFamily="2" charset="77"/>
            </a:endParaRPr>
          </a:p>
          <a:p>
            <a:pPr algn="just"/>
            <a:r>
              <a:rPr lang="es-MX" sz="1450" noProof="1">
                <a:solidFill>
                  <a:srgbClr val="666666"/>
                </a:solidFill>
                <a:latin typeface="Barlow" pitchFamily="2" charset="77"/>
              </a:rPr>
              <a:t>Por ejemplo verifica: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s-MX" sz="1450" noProof="1">
                <a:solidFill>
                  <a:srgbClr val="666666"/>
                </a:solidFill>
                <a:latin typeface="Barlow" pitchFamily="2" charset="77"/>
              </a:rPr>
              <a:t>Si el certificado no está vencido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s-MX" sz="1450" noProof="1">
                <a:solidFill>
                  <a:srgbClr val="666666"/>
                </a:solidFill>
                <a:latin typeface="Barlow" pitchFamily="2" charset="77"/>
              </a:rPr>
              <a:t>Si el dominio coincide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s-MX" sz="1450" noProof="1">
                <a:solidFill>
                  <a:srgbClr val="666666"/>
                </a:solidFill>
                <a:latin typeface="Barlow" pitchFamily="2" charset="77"/>
              </a:rPr>
              <a:t>Si fue firmado por una CA confiable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s-MX" sz="1450" noProof="1">
                <a:solidFill>
                  <a:srgbClr val="666666"/>
                </a:solidFill>
                <a:latin typeface="Barlow" pitchFamily="2" charset="77"/>
              </a:rPr>
              <a:t>Si la cadena de certificados está completa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s-MX" sz="1450" noProof="1">
                <a:solidFill>
                  <a:srgbClr val="666666"/>
                </a:solidFill>
                <a:latin typeface="Barlow" pitchFamily="2" charset="77"/>
              </a:rPr>
              <a:t>Si el certificado no fue revocado</a:t>
            </a:r>
          </a:p>
        </p:txBody>
      </p:sp>
      <p:sp>
        <p:nvSpPr>
          <p:cNvPr id="2" name="Google Shape;164;p28">
            <a:extLst>
              <a:ext uri="{FF2B5EF4-FFF2-40B4-BE49-F238E27FC236}">
                <a16:creationId xmlns:a16="http://schemas.microsoft.com/office/drawing/2014/main" id="{3574E1D6-A866-6C2D-3A8C-63DF1C6283B0}"/>
              </a:ext>
            </a:extLst>
          </p:cNvPr>
          <p:cNvSpPr txBox="1">
            <a:spLocks/>
          </p:cNvSpPr>
          <p:nvPr/>
        </p:nvSpPr>
        <p:spPr>
          <a:xfrm>
            <a:off x="291308" y="247975"/>
            <a:ext cx="6562074" cy="6457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buSzPts val="990"/>
            </a:pPr>
            <a:r>
              <a:rPr lang="es-MX" sz="2720" noProof="1">
                <a:solidFill>
                  <a:schemeClr val="accent4"/>
                </a:solidFill>
                <a:latin typeface="Barlow Medium"/>
                <a:ea typeface="Barlow Medium"/>
                <a:cs typeface="Barlow Medium"/>
                <a:sym typeface="Barlow Medium"/>
              </a:rPr>
              <a:t>HANDSHAKE </a:t>
            </a:r>
            <a:r>
              <a:rPr lang="es-MX" sz="2720" noProof="1">
                <a:solidFill>
                  <a:schemeClr val="dk2"/>
                </a:solidFill>
                <a:latin typeface="Barlow Medium"/>
                <a:ea typeface="Barlow Medium"/>
                <a:cs typeface="Barlow Medium"/>
                <a:sym typeface="Barlow Medium"/>
              </a:rPr>
              <a:t>TLS</a:t>
            </a:r>
          </a:p>
        </p:txBody>
      </p:sp>
      <p:sp>
        <p:nvSpPr>
          <p:cNvPr id="3" name="Google Shape;88;p16">
            <a:extLst>
              <a:ext uri="{FF2B5EF4-FFF2-40B4-BE49-F238E27FC236}">
                <a16:creationId xmlns:a16="http://schemas.microsoft.com/office/drawing/2014/main" id="{61B0A677-DA2C-7926-C9B1-85453FDACF81}"/>
              </a:ext>
            </a:extLst>
          </p:cNvPr>
          <p:cNvSpPr/>
          <p:nvPr/>
        </p:nvSpPr>
        <p:spPr>
          <a:xfrm>
            <a:off x="7319246" y="2051708"/>
            <a:ext cx="1383900" cy="1383900"/>
          </a:xfrm>
          <a:prstGeom prst="ellipse">
            <a:avLst/>
          </a:prstGeom>
          <a:noFill/>
          <a:ln w="19050" cap="flat" cmpd="sng">
            <a:solidFill>
              <a:srgbClr val="9FC5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s-MX" noProof="1"/>
          </a:p>
        </p:txBody>
      </p:sp>
      <p:pic>
        <p:nvPicPr>
          <p:cNvPr id="5" name="Picture 2" descr="mTLS Explained | Beeceptor">
            <a:extLst>
              <a:ext uri="{FF2B5EF4-FFF2-40B4-BE49-F238E27FC236}">
                <a16:creationId xmlns:a16="http://schemas.microsoft.com/office/drawing/2014/main" id="{76C7B12B-5BCA-04CF-5993-D9E260325A2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53382" y="2213716"/>
            <a:ext cx="2196821" cy="12577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9552300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5">
          <a:extLst>
            <a:ext uri="{FF2B5EF4-FFF2-40B4-BE49-F238E27FC236}">
              <a16:creationId xmlns:a16="http://schemas.microsoft.com/office/drawing/2014/main" id="{6BCEB02B-5D40-B939-CC6A-8189567578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6">
            <a:extLst>
              <a:ext uri="{FF2B5EF4-FFF2-40B4-BE49-F238E27FC236}">
                <a16:creationId xmlns:a16="http://schemas.microsoft.com/office/drawing/2014/main" id="{3EA3CD13-77A3-F527-17D1-D8CC313FBCA1}"/>
              </a:ext>
            </a:extLst>
          </p:cNvPr>
          <p:cNvSpPr/>
          <p:nvPr/>
        </p:nvSpPr>
        <p:spPr>
          <a:xfrm>
            <a:off x="5206662" y="1102925"/>
            <a:ext cx="3581700" cy="3581700"/>
          </a:xfrm>
          <a:prstGeom prst="ellipse">
            <a:avLst/>
          </a:prstGeom>
          <a:noFill/>
          <a:ln w="19050" cap="flat" cmpd="sng">
            <a:solidFill>
              <a:srgbClr val="F0F8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noProof="1"/>
              <a:t>          </a:t>
            </a:r>
          </a:p>
        </p:txBody>
      </p:sp>
      <p:sp>
        <p:nvSpPr>
          <p:cNvPr id="89" name="Google Shape;89;p16">
            <a:extLst>
              <a:ext uri="{FF2B5EF4-FFF2-40B4-BE49-F238E27FC236}">
                <a16:creationId xmlns:a16="http://schemas.microsoft.com/office/drawing/2014/main" id="{DF5C09D3-F548-5266-C6D5-C935C2536D75}"/>
              </a:ext>
            </a:extLst>
          </p:cNvPr>
          <p:cNvSpPr/>
          <p:nvPr/>
        </p:nvSpPr>
        <p:spPr>
          <a:xfrm>
            <a:off x="7733608" y="2549032"/>
            <a:ext cx="1242300" cy="1242300"/>
          </a:xfrm>
          <a:prstGeom prst="ellipse">
            <a:avLst/>
          </a:prstGeom>
          <a:solidFill>
            <a:srgbClr val="CC0000">
              <a:alpha val="633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s-MX" noProof="1"/>
          </a:p>
        </p:txBody>
      </p:sp>
      <p:sp>
        <p:nvSpPr>
          <p:cNvPr id="92" name="Google Shape;92;p16">
            <a:extLst>
              <a:ext uri="{FF2B5EF4-FFF2-40B4-BE49-F238E27FC236}">
                <a16:creationId xmlns:a16="http://schemas.microsoft.com/office/drawing/2014/main" id="{DA9EEB03-F2B5-B80D-9224-5C4C725CA14D}"/>
              </a:ext>
            </a:extLst>
          </p:cNvPr>
          <p:cNvSpPr/>
          <p:nvPr/>
        </p:nvSpPr>
        <p:spPr>
          <a:xfrm>
            <a:off x="4945074" y="3456380"/>
            <a:ext cx="1474500" cy="1474500"/>
          </a:xfrm>
          <a:prstGeom prst="ellipse">
            <a:avLst/>
          </a:prstGeom>
          <a:solidFill>
            <a:srgbClr val="FFE599">
              <a:alpha val="2468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s-MX" noProof="1"/>
          </a:p>
        </p:txBody>
      </p:sp>
      <p:sp>
        <p:nvSpPr>
          <p:cNvPr id="93" name="Google Shape;93;p16">
            <a:extLst>
              <a:ext uri="{FF2B5EF4-FFF2-40B4-BE49-F238E27FC236}">
                <a16:creationId xmlns:a16="http://schemas.microsoft.com/office/drawing/2014/main" id="{2F9DA9C0-C1A1-3D36-D5F9-AB83EC5E946A}"/>
              </a:ext>
            </a:extLst>
          </p:cNvPr>
          <p:cNvSpPr/>
          <p:nvPr/>
        </p:nvSpPr>
        <p:spPr>
          <a:xfrm>
            <a:off x="6988025" y="3863083"/>
            <a:ext cx="1194000" cy="1194000"/>
          </a:xfrm>
          <a:prstGeom prst="ellipse">
            <a:avLst/>
          </a:prstGeom>
          <a:solidFill>
            <a:srgbClr val="FF0000">
              <a:alpha val="696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s-MX" noProof="1"/>
          </a:p>
        </p:txBody>
      </p:sp>
      <p:sp>
        <p:nvSpPr>
          <p:cNvPr id="117" name="Google Shape;117;p16">
            <a:extLst>
              <a:ext uri="{FF2B5EF4-FFF2-40B4-BE49-F238E27FC236}">
                <a16:creationId xmlns:a16="http://schemas.microsoft.com/office/drawing/2014/main" id="{7F895E23-90AA-226B-05B6-3C296B7A7906}"/>
              </a:ext>
            </a:extLst>
          </p:cNvPr>
          <p:cNvSpPr txBox="1"/>
          <p:nvPr/>
        </p:nvSpPr>
        <p:spPr>
          <a:xfrm>
            <a:off x="355638" y="1082235"/>
            <a:ext cx="8081727" cy="358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algn="just"/>
            <a:r>
              <a:rPr lang="es-MX" sz="1450" b="1" noProof="1">
                <a:solidFill>
                  <a:srgbClr val="666666"/>
                </a:solidFill>
                <a:latin typeface="Barlow" pitchFamily="2" charset="77"/>
              </a:rPr>
              <a:t>3: Se acuerda una clave segura</a:t>
            </a:r>
          </a:p>
          <a:p>
            <a:pPr algn="just"/>
            <a:r>
              <a:rPr lang="es-MX" sz="1450" noProof="1">
                <a:solidFill>
                  <a:srgbClr val="666666"/>
                </a:solidFill>
                <a:latin typeface="Barlow" pitchFamily="2" charset="77"/>
              </a:rPr>
              <a:t>Después de validar el certificado, cliente y servidor hacen un proceso criptográfico para crear una clave temporal.</a:t>
            </a:r>
          </a:p>
          <a:p>
            <a:pPr algn="just"/>
            <a:endParaRPr lang="es-MX" sz="1450" noProof="1">
              <a:solidFill>
                <a:srgbClr val="666666"/>
              </a:solidFill>
              <a:latin typeface="Barlow" pitchFamily="2" charset="77"/>
            </a:endParaRPr>
          </a:p>
          <a:p>
            <a:pPr algn="just"/>
            <a:r>
              <a:rPr lang="es-MX" sz="1450" noProof="1">
                <a:solidFill>
                  <a:srgbClr val="666666"/>
                </a:solidFill>
                <a:latin typeface="Barlow" pitchFamily="2" charset="77"/>
              </a:rPr>
              <a:t>Esa clave se llama clave de sesión y sirve para cifrar los datos durante esa conexión.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s-MX" sz="1450" noProof="1">
                <a:solidFill>
                  <a:srgbClr val="666666"/>
                </a:solidFill>
                <a:latin typeface="Barlow" pitchFamily="2" charset="77"/>
              </a:rPr>
              <a:t>No se usa la misma clave para siempre.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s-MX" sz="1450" noProof="1">
                <a:solidFill>
                  <a:srgbClr val="666666"/>
                </a:solidFill>
                <a:latin typeface="Barlow" pitchFamily="2" charset="77"/>
              </a:rPr>
              <a:t>Se crea una clave temporal para esa sesión.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s-MX" sz="1450" noProof="1">
              <a:solidFill>
                <a:srgbClr val="666666"/>
              </a:solidFill>
              <a:latin typeface="Barlow" pitchFamily="2" charset="77"/>
            </a:endParaRPr>
          </a:p>
          <a:p>
            <a:pPr algn="just"/>
            <a:r>
              <a:rPr lang="es-MX" sz="1450" noProof="1">
                <a:solidFill>
                  <a:srgbClr val="666666"/>
                </a:solidFill>
                <a:latin typeface="Barlow" pitchFamily="2" charset="77"/>
              </a:rPr>
              <a:t>Después del handshake, ahora sí viaja el request HTTP protegido por TLS.</a:t>
            </a:r>
          </a:p>
          <a:p>
            <a:pPr algn="just"/>
            <a:endParaRPr lang="es-MX" sz="1450" noProof="1">
              <a:solidFill>
                <a:srgbClr val="666666"/>
              </a:solidFill>
              <a:latin typeface="Barlow" pitchFamily="2" charset="77"/>
            </a:endParaRPr>
          </a:p>
          <a:p>
            <a:pPr algn="just"/>
            <a:r>
              <a:rPr lang="es-MX" sz="1450" b="1" noProof="1">
                <a:solidFill>
                  <a:srgbClr val="666666"/>
                </a:solidFill>
                <a:latin typeface="Barlow" pitchFamily="2" charset="77"/>
              </a:rPr>
              <a:t>Entonces importante revisar que: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s-MX" sz="1450" noProof="1">
                <a:solidFill>
                  <a:srgbClr val="666666"/>
                </a:solidFill>
                <a:latin typeface="Barlow" pitchFamily="2" charset="77"/>
              </a:rPr>
              <a:t>Si falla al validar certificado → problema de truststore.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s-MX" sz="1450" noProof="1">
                <a:solidFill>
                  <a:srgbClr val="666666"/>
                </a:solidFill>
                <a:latin typeface="Barlow" pitchFamily="2" charset="77"/>
              </a:rPr>
              <a:t>Si falla porque el certificado venció → renovar certificado.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s-MX" sz="1450" noProof="1">
                <a:solidFill>
                  <a:srgbClr val="666666"/>
                </a:solidFill>
                <a:latin typeface="Barlow" pitchFamily="2" charset="77"/>
              </a:rPr>
              <a:t>Si falla porque el dominio no coincide → revisar SAN/hostname.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s-MX" sz="1450" noProof="1">
                <a:solidFill>
                  <a:srgbClr val="666666"/>
                </a:solidFill>
                <a:latin typeface="Barlow" pitchFamily="2" charset="77"/>
              </a:rPr>
              <a:t>Si falla porque no soportan la misma versión TLS → revisar TLS 1.2 / 1.3.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s-MX" sz="1450" noProof="1">
                <a:solidFill>
                  <a:srgbClr val="666666"/>
                </a:solidFill>
                <a:latin typeface="Barlow" pitchFamily="2" charset="77"/>
              </a:rPr>
              <a:t>Si falla en mTLS porque no mandaste certificado → revisar keystore cliente.</a:t>
            </a:r>
          </a:p>
        </p:txBody>
      </p:sp>
      <p:sp>
        <p:nvSpPr>
          <p:cNvPr id="2" name="Google Shape;164;p28">
            <a:extLst>
              <a:ext uri="{FF2B5EF4-FFF2-40B4-BE49-F238E27FC236}">
                <a16:creationId xmlns:a16="http://schemas.microsoft.com/office/drawing/2014/main" id="{BD515E0E-94F7-9CFC-673E-7781BC9B4408}"/>
              </a:ext>
            </a:extLst>
          </p:cNvPr>
          <p:cNvSpPr txBox="1">
            <a:spLocks/>
          </p:cNvSpPr>
          <p:nvPr/>
        </p:nvSpPr>
        <p:spPr>
          <a:xfrm>
            <a:off x="291308" y="247975"/>
            <a:ext cx="6562074" cy="6457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buSzPts val="990"/>
            </a:pPr>
            <a:r>
              <a:rPr lang="es-MX" sz="2720" noProof="1">
                <a:solidFill>
                  <a:schemeClr val="accent4"/>
                </a:solidFill>
                <a:latin typeface="Barlow Medium"/>
                <a:ea typeface="Barlow Medium"/>
                <a:cs typeface="Barlow Medium"/>
                <a:sym typeface="Barlow Medium"/>
              </a:rPr>
              <a:t>HANDSHAKE </a:t>
            </a:r>
            <a:r>
              <a:rPr lang="es-MX" sz="2720" noProof="1">
                <a:solidFill>
                  <a:schemeClr val="dk2"/>
                </a:solidFill>
                <a:latin typeface="Barlow Medium"/>
                <a:ea typeface="Barlow Medium"/>
                <a:cs typeface="Barlow Medium"/>
                <a:sym typeface="Barlow Medium"/>
              </a:rPr>
              <a:t>TLS</a:t>
            </a:r>
          </a:p>
        </p:txBody>
      </p:sp>
      <p:sp>
        <p:nvSpPr>
          <p:cNvPr id="3" name="Google Shape;88;p16">
            <a:extLst>
              <a:ext uri="{FF2B5EF4-FFF2-40B4-BE49-F238E27FC236}">
                <a16:creationId xmlns:a16="http://schemas.microsoft.com/office/drawing/2014/main" id="{E84182BE-EC5D-DCAF-F149-1D7FC355451A}"/>
              </a:ext>
            </a:extLst>
          </p:cNvPr>
          <p:cNvSpPr/>
          <p:nvPr/>
        </p:nvSpPr>
        <p:spPr>
          <a:xfrm>
            <a:off x="7319246" y="2051708"/>
            <a:ext cx="1383900" cy="1383900"/>
          </a:xfrm>
          <a:prstGeom prst="ellipse">
            <a:avLst/>
          </a:prstGeom>
          <a:noFill/>
          <a:ln w="19050" cap="flat" cmpd="sng">
            <a:solidFill>
              <a:srgbClr val="9FC5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s-MX" noProof="1"/>
          </a:p>
        </p:txBody>
      </p:sp>
      <p:pic>
        <p:nvPicPr>
          <p:cNvPr id="5" name="Picture 2" descr="mTLS Explained | Beeceptor">
            <a:extLst>
              <a:ext uri="{FF2B5EF4-FFF2-40B4-BE49-F238E27FC236}">
                <a16:creationId xmlns:a16="http://schemas.microsoft.com/office/drawing/2014/main" id="{9D677523-743F-99D6-8CA2-D1F9C95A083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53382" y="2213716"/>
            <a:ext cx="2196821" cy="12577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0120757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5">
          <a:extLst>
            <a:ext uri="{FF2B5EF4-FFF2-40B4-BE49-F238E27FC236}">
              <a16:creationId xmlns:a16="http://schemas.microsoft.com/office/drawing/2014/main" id="{AC6EAF93-11A4-4EF1-D0D7-F6D1AB48E9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6">
            <a:extLst>
              <a:ext uri="{FF2B5EF4-FFF2-40B4-BE49-F238E27FC236}">
                <a16:creationId xmlns:a16="http://schemas.microsoft.com/office/drawing/2014/main" id="{51DF4ECB-250C-49C3-C357-40893C1DC27A}"/>
              </a:ext>
            </a:extLst>
          </p:cNvPr>
          <p:cNvSpPr/>
          <p:nvPr/>
        </p:nvSpPr>
        <p:spPr>
          <a:xfrm>
            <a:off x="5206662" y="1102925"/>
            <a:ext cx="3581700" cy="3581700"/>
          </a:xfrm>
          <a:prstGeom prst="ellipse">
            <a:avLst/>
          </a:prstGeom>
          <a:noFill/>
          <a:ln w="19050" cap="flat" cmpd="sng">
            <a:solidFill>
              <a:srgbClr val="F0F8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noProof="1"/>
              <a:t>          </a:t>
            </a:r>
          </a:p>
        </p:txBody>
      </p:sp>
      <p:sp>
        <p:nvSpPr>
          <p:cNvPr id="89" name="Google Shape;89;p16">
            <a:extLst>
              <a:ext uri="{FF2B5EF4-FFF2-40B4-BE49-F238E27FC236}">
                <a16:creationId xmlns:a16="http://schemas.microsoft.com/office/drawing/2014/main" id="{A7C31F86-16AA-E83A-4D28-24A452AF1102}"/>
              </a:ext>
            </a:extLst>
          </p:cNvPr>
          <p:cNvSpPr/>
          <p:nvPr/>
        </p:nvSpPr>
        <p:spPr>
          <a:xfrm>
            <a:off x="7733608" y="2549032"/>
            <a:ext cx="1242300" cy="1242300"/>
          </a:xfrm>
          <a:prstGeom prst="ellipse">
            <a:avLst/>
          </a:prstGeom>
          <a:solidFill>
            <a:srgbClr val="CC0000">
              <a:alpha val="633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s-MX" noProof="1"/>
          </a:p>
        </p:txBody>
      </p:sp>
      <p:sp>
        <p:nvSpPr>
          <p:cNvPr id="92" name="Google Shape;92;p16">
            <a:extLst>
              <a:ext uri="{FF2B5EF4-FFF2-40B4-BE49-F238E27FC236}">
                <a16:creationId xmlns:a16="http://schemas.microsoft.com/office/drawing/2014/main" id="{81997A2A-483B-4FBD-D0BE-46C1352EE9AB}"/>
              </a:ext>
            </a:extLst>
          </p:cNvPr>
          <p:cNvSpPr/>
          <p:nvPr/>
        </p:nvSpPr>
        <p:spPr>
          <a:xfrm>
            <a:off x="4945074" y="3456380"/>
            <a:ext cx="1474500" cy="1474500"/>
          </a:xfrm>
          <a:prstGeom prst="ellipse">
            <a:avLst/>
          </a:prstGeom>
          <a:solidFill>
            <a:srgbClr val="FFE599">
              <a:alpha val="2468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s-MX" noProof="1"/>
          </a:p>
        </p:txBody>
      </p:sp>
      <p:sp>
        <p:nvSpPr>
          <p:cNvPr id="93" name="Google Shape;93;p16">
            <a:extLst>
              <a:ext uri="{FF2B5EF4-FFF2-40B4-BE49-F238E27FC236}">
                <a16:creationId xmlns:a16="http://schemas.microsoft.com/office/drawing/2014/main" id="{50926668-BE4A-73A4-B023-0346BEB8474A}"/>
              </a:ext>
            </a:extLst>
          </p:cNvPr>
          <p:cNvSpPr/>
          <p:nvPr/>
        </p:nvSpPr>
        <p:spPr>
          <a:xfrm>
            <a:off x="6988025" y="3863083"/>
            <a:ext cx="1194000" cy="1194000"/>
          </a:xfrm>
          <a:prstGeom prst="ellipse">
            <a:avLst/>
          </a:prstGeom>
          <a:solidFill>
            <a:srgbClr val="FF0000">
              <a:alpha val="696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s-MX" noProof="1"/>
          </a:p>
        </p:txBody>
      </p:sp>
      <p:sp>
        <p:nvSpPr>
          <p:cNvPr id="117" name="Google Shape;117;p16">
            <a:extLst>
              <a:ext uri="{FF2B5EF4-FFF2-40B4-BE49-F238E27FC236}">
                <a16:creationId xmlns:a16="http://schemas.microsoft.com/office/drawing/2014/main" id="{2CF92E14-DDAE-E059-268C-FFAE7FDC6DF4}"/>
              </a:ext>
            </a:extLst>
          </p:cNvPr>
          <p:cNvSpPr txBox="1"/>
          <p:nvPr/>
        </p:nvSpPr>
        <p:spPr>
          <a:xfrm>
            <a:off x="324423" y="1331478"/>
            <a:ext cx="6787642" cy="27090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algn="just"/>
            <a:r>
              <a:rPr lang="es-MX" sz="1450" noProof="1">
                <a:solidFill>
                  <a:srgbClr val="666666"/>
                </a:solidFill>
                <a:latin typeface="Barlow" pitchFamily="2" charset="77"/>
              </a:rPr>
              <a:t>Un </a:t>
            </a:r>
            <a:r>
              <a:rPr lang="es-MX" sz="1450" b="1" noProof="1">
                <a:solidFill>
                  <a:schemeClr val="accent1">
                    <a:lumMod val="75000"/>
                  </a:schemeClr>
                </a:solidFill>
                <a:latin typeface="Barlow" pitchFamily="2" charset="77"/>
              </a:rPr>
              <a:t>Certificado digital SSL/TLS </a:t>
            </a:r>
            <a:r>
              <a:rPr lang="es-MX" sz="1450" noProof="1">
                <a:solidFill>
                  <a:srgbClr val="666666"/>
                </a:solidFill>
                <a:latin typeface="Barlow" pitchFamily="2" charset="77"/>
              </a:rPr>
              <a:t>es el protocolo de seguridad más utilizado que permite realizar una transferencia de datos de manera cifrada entre un servidor web y un navegador.</a:t>
            </a:r>
          </a:p>
          <a:p>
            <a:pPr algn="just"/>
            <a:endParaRPr lang="es-MX" sz="1450" noProof="1">
              <a:solidFill>
                <a:srgbClr val="666666"/>
              </a:solidFill>
              <a:latin typeface="Barlow" pitchFamily="2" charset="77"/>
            </a:endParaRPr>
          </a:p>
          <a:p>
            <a:pPr algn="just"/>
            <a:r>
              <a:rPr lang="es-MX" sz="1450" noProof="1">
                <a:solidFill>
                  <a:srgbClr val="666666"/>
                </a:solidFill>
                <a:latin typeface="Barlow" pitchFamily="2" charset="77"/>
              </a:rPr>
              <a:t>Las </a:t>
            </a:r>
            <a:r>
              <a:rPr lang="es-MX" sz="1450" b="1" noProof="1">
                <a:solidFill>
                  <a:schemeClr val="accent1">
                    <a:lumMod val="75000"/>
                  </a:schemeClr>
                </a:solidFill>
                <a:latin typeface="Barlow" pitchFamily="2" charset="77"/>
              </a:rPr>
              <a:t>Autoridades Certificadoras (CA) </a:t>
            </a:r>
            <a:r>
              <a:rPr lang="es-MX" sz="1450" noProof="1">
                <a:solidFill>
                  <a:srgbClr val="666666"/>
                </a:solidFill>
                <a:latin typeface="Barlow" pitchFamily="2" charset="77"/>
              </a:rPr>
              <a:t>son las encargadas de validar, emitir y revocar lo certificados de la misma forma que un gobierno emite documentos oficiales como el DNI o pasaporte. </a:t>
            </a:r>
          </a:p>
          <a:p>
            <a:pPr algn="just"/>
            <a:endParaRPr lang="es-MX" sz="1450" noProof="1">
              <a:solidFill>
                <a:srgbClr val="666666"/>
              </a:solidFill>
              <a:latin typeface="Barlow" pitchFamily="2" charset="77"/>
            </a:endParaRPr>
          </a:p>
          <a:p>
            <a:pPr algn="just"/>
            <a:r>
              <a:rPr lang="es-MX" sz="1450" noProof="1">
                <a:solidFill>
                  <a:srgbClr val="666666"/>
                </a:solidFill>
                <a:latin typeface="Barlow" pitchFamily="2" charset="77"/>
              </a:rPr>
              <a:t>Las Autoridades Certificadoras deben seguir unas reglas y políticas muy estrictas a la hora de decidir quién puede o no recibir un certificado y por ello, contar con un certificado emitido por una CA es un paso indispensable para asegurar la confiabilidad del sitio web.</a:t>
            </a:r>
          </a:p>
          <a:p>
            <a:pPr algn="just"/>
            <a:endParaRPr lang="es-MX" sz="1450" noProof="1">
              <a:solidFill>
                <a:srgbClr val="666666"/>
              </a:solidFill>
              <a:latin typeface="Barlow" pitchFamily="2" charset="77"/>
            </a:endParaRPr>
          </a:p>
          <a:p>
            <a:pPr algn="just"/>
            <a:endParaRPr lang="es-MX" sz="1450" noProof="1">
              <a:solidFill>
                <a:srgbClr val="666666"/>
              </a:solidFill>
              <a:latin typeface="Barlow" pitchFamily="2" charset="77"/>
            </a:endParaRPr>
          </a:p>
        </p:txBody>
      </p:sp>
      <p:sp>
        <p:nvSpPr>
          <p:cNvPr id="2" name="Google Shape;164;p28">
            <a:extLst>
              <a:ext uri="{FF2B5EF4-FFF2-40B4-BE49-F238E27FC236}">
                <a16:creationId xmlns:a16="http://schemas.microsoft.com/office/drawing/2014/main" id="{53146710-89D3-CD49-FC98-8738DF85F5AD}"/>
              </a:ext>
            </a:extLst>
          </p:cNvPr>
          <p:cNvSpPr txBox="1">
            <a:spLocks/>
          </p:cNvSpPr>
          <p:nvPr/>
        </p:nvSpPr>
        <p:spPr>
          <a:xfrm>
            <a:off x="291308" y="247975"/>
            <a:ext cx="6562074" cy="6457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buSzPts val="990"/>
            </a:pPr>
            <a:r>
              <a:rPr lang="es-MX" sz="2720" noProof="1">
                <a:solidFill>
                  <a:schemeClr val="accent4"/>
                </a:solidFill>
                <a:latin typeface="Barlow Medium"/>
                <a:ea typeface="Barlow Medium"/>
                <a:cs typeface="Barlow Medium"/>
                <a:sym typeface="Barlow Medium"/>
              </a:rPr>
              <a:t>CERTIFICADOS </a:t>
            </a:r>
            <a:r>
              <a:rPr lang="es-MX" sz="2720" noProof="1">
                <a:solidFill>
                  <a:schemeClr val="dk2"/>
                </a:solidFill>
                <a:latin typeface="Barlow Medium"/>
                <a:ea typeface="Barlow Medium"/>
                <a:cs typeface="Barlow Medium"/>
                <a:sym typeface="Barlow Medium"/>
              </a:rPr>
              <a:t>SSL / TLS</a:t>
            </a:r>
          </a:p>
        </p:txBody>
      </p:sp>
      <p:sp>
        <p:nvSpPr>
          <p:cNvPr id="3" name="Google Shape;88;p16">
            <a:extLst>
              <a:ext uri="{FF2B5EF4-FFF2-40B4-BE49-F238E27FC236}">
                <a16:creationId xmlns:a16="http://schemas.microsoft.com/office/drawing/2014/main" id="{0409D755-F383-514A-2C8C-FDEF3FF90815}"/>
              </a:ext>
            </a:extLst>
          </p:cNvPr>
          <p:cNvSpPr/>
          <p:nvPr/>
        </p:nvSpPr>
        <p:spPr>
          <a:xfrm>
            <a:off x="7319246" y="2051708"/>
            <a:ext cx="1383900" cy="1383900"/>
          </a:xfrm>
          <a:prstGeom prst="ellipse">
            <a:avLst/>
          </a:prstGeom>
          <a:noFill/>
          <a:ln w="19050" cap="flat" cmpd="sng">
            <a:solidFill>
              <a:srgbClr val="9FC5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s-MX" noProof="1"/>
          </a:p>
        </p:txBody>
      </p:sp>
      <p:pic>
        <p:nvPicPr>
          <p:cNvPr id="5" name="Picture 2" descr="mTLS Explained | Beeceptor">
            <a:extLst>
              <a:ext uri="{FF2B5EF4-FFF2-40B4-BE49-F238E27FC236}">
                <a16:creationId xmlns:a16="http://schemas.microsoft.com/office/drawing/2014/main" id="{3A4D0665-EE85-5DD6-5E04-FE74CC39808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53382" y="2213716"/>
            <a:ext cx="2196821" cy="12577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5366926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5">
          <a:extLst>
            <a:ext uri="{FF2B5EF4-FFF2-40B4-BE49-F238E27FC236}">
              <a16:creationId xmlns:a16="http://schemas.microsoft.com/office/drawing/2014/main" id="{CC83B236-1E44-715D-A6A7-4B71BD35C3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6">
            <a:extLst>
              <a:ext uri="{FF2B5EF4-FFF2-40B4-BE49-F238E27FC236}">
                <a16:creationId xmlns:a16="http://schemas.microsoft.com/office/drawing/2014/main" id="{5EC45D74-55E4-BEF3-FB08-72756714A581}"/>
              </a:ext>
            </a:extLst>
          </p:cNvPr>
          <p:cNvSpPr/>
          <p:nvPr/>
        </p:nvSpPr>
        <p:spPr>
          <a:xfrm>
            <a:off x="5206662" y="1102925"/>
            <a:ext cx="3581700" cy="3581700"/>
          </a:xfrm>
          <a:prstGeom prst="ellipse">
            <a:avLst/>
          </a:prstGeom>
          <a:noFill/>
          <a:ln w="19050" cap="flat" cmpd="sng">
            <a:solidFill>
              <a:srgbClr val="F0F8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noProof="1"/>
              <a:t>          </a:t>
            </a:r>
          </a:p>
        </p:txBody>
      </p:sp>
      <p:sp>
        <p:nvSpPr>
          <p:cNvPr id="89" name="Google Shape;89;p16">
            <a:extLst>
              <a:ext uri="{FF2B5EF4-FFF2-40B4-BE49-F238E27FC236}">
                <a16:creationId xmlns:a16="http://schemas.microsoft.com/office/drawing/2014/main" id="{DB8833B8-E541-E753-F72C-87D3E43B29EB}"/>
              </a:ext>
            </a:extLst>
          </p:cNvPr>
          <p:cNvSpPr/>
          <p:nvPr/>
        </p:nvSpPr>
        <p:spPr>
          <a:xfrm>
            <a:off x="7733608" y="2549032"/>
            <a:ext cx="1242300" cy="1242300"/>
          </a:xfrm>
          <a:prstGeom prst="ellipse">
            <a:avLst/>
          </a:prstGeom>
          <a:solidFill>
            <a:srgbClr val="CC0000">
              <a:alpha val="633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s-MX" noProof="1"/>
          </a:p>
        </p:txBody>
      </p:sp>
      <p:sp>
        <p:nvSpPr>
          <p:cNvPr id="92" name="Google Shape;92;p16">
            <a:extLst>
              <a:ext uri="{FF2B5EF4-FFF2-40B4-BE49-F238E27FC236}">
                <a16:creationId xmlns:a16="http://schemas.microsoft.com/office/drawing/2014/main" id="{540E3BA5-91F5-47FD-3F4D-1D51B33FE8E7}"/>
              </a:ext>
            </a:extLst>
          </p:cNvPr>
          <p:cNvSpPr/>
          <p:nvPr/>
        </p:nvSpPr>
        <p:spPr>
          <a:xfrm>
            <a:off x="4945074" y="3456380"/>
            <a:ext cx="1474500" cy="1474500"/>
          </a:xfrm>
          <a:prstGeom prst="ellipse">
            <a:avLst/>
          </a:prstGeom>
          <a:solidFill>
            <a:srgbClr val="FFE599">
              <a:alpha val="2468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s-MX" noProof="1"/>
          </a:p>
        </p:txBody>
      </p:sp>
      <p:sp>
        <p:nvSpPr>
          <p:cNvPr id="93" name="Google Shape;93;p16">
            <a:extLst>
              <a:ext uri="{FF2B5EF4-FFF2-40B4-BE49-F238E27FC236}">
                <a16:creationId xmlns:a16="http://schemas.microsoft.com/office/drawing/2014/main" id="{8F8E1A58-EAD4-ACFF-CC31-FEC311D965BB}"/>
              </a:ext>
            </a:extLst>
          </p:cNvPr>
          <p:cNvSpPr/>
          <p:nvPr/>
        </p:nvSpPr>
        <p:spPr>
          <a:xfrm>
            <a:off x="6988025" y="3863083"/>
            <a:ext cx="1194000" cy="1194000"/>
          </a:xfrm>
          <a:prstGeom prst="ellipse">
            <a:avLst/>
          </a:prstGeom>
          <a:solidFill>
            <a:srgbClr val="FF0000">
              <a:alpha val="696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s-MX" noProof="1"/>
          </a:p>
        </p:txBody>
      </p:sp>
      <p:sp>
        <p:nvSpPr>
          <p:cNvPr id="117" name="Google Shape;117;p16">
            <a:extLst>
              <a:ext uri="{FF2B5EF4-FFF2-40B4-BE49-F238E27FC236}">
                <a16:creationId xmlns:a16="http://schemas.microsoft.com/office/drawing/2014/main" id="{C047956A-25CF-9C2D-9038-A27BD20CDF07}"/>
              </a:ext>
            </a:extLst>
          </p:cNvPr>
          <p:cNvSpPr txBox="1"/>
          <p:nvPr/>
        </p:nvSpPr>
        <p:spPr>
          <a:xfrm>
            <a:off x="314700" y="920645"/>
            <a:ext cx="8537992" cy="38990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algn="just"/>
            <a:r>
              <a:rPr lang="es-MX" sz="1450" b="1" noProof="1">
                <a:solidFill>
                  <a:schemeClr val="accent1">
                    <a:lumMod val="75000"/>
                  </a:schemeClr>
                </a:solidFill>
                <a:latin typeface="Barlow" pitchFamily="2" charset="77"/>
              </a:rPr>
              <a:t>Subject</a:t>
            </a:r>
            <a:r>
              <a:rPr lang="es-MX" sz="1450" noProof="1">
                <a:solidFill>
                  <a:srgbClr val="666666"/>
                </a:solidFill>
                <a:latin typeface="Barlow" pitchFamily="2" charset="77"/>
              </a:rPr>
              <a:t>: indica para quién fue emitido el certificado, por ejemplo api.banco.com.</a:t>
            </a:r>
          </a:p>
          <a:p>
            <a:pPr algn="just"/>
            <a:endParaRPr lang="es-MX" sz="1450" noProof="1">
              <a:solidFill>
                <a:srgbClr val="666666"/>
              </a:solidFill>
              <a:latin typeface="Barlow" pitchFamily="2" charset="77"/>
            </a:endParaRPr>
          </a:p>
          <a:p>
            <a:pPr algn="just"/>
            <a:r>
              <a:rPr lang="es-MX" sz="1450" b="1" noProof="1">
                <a:solidFill>
                  <a:schemeClr val="accent1">
                    <a:lumMod val="75000"/>
                  </a:schemeClr>
                </a:solidFill>
                <a:latin typeface="Barlow" pitchFamily="2" charset="77"/>
              </a:rPr>
              <a:t>Issuer</a:t>
            </a:r>
            <a:r>
              <a:rPr lang="es-MX" sz="1450" noProof="1">
                <a:solidFill>
                  <a:srgbClr val="666666"/>
                </a:solidFill>
                <a:latin typeface="Barlow" pitchFamily="2" charset="77"/>
              </a:rPr>
              <a:t>: indica quién emitió o firmó el certificado, por ejemplo una CA como DigiCert o Banco Internal CA.</a:t>
            </a:r>
          </a:p>
          <a:p>
            <a:pPr algn="just"/>
            <a:endParaRPr lang="es-MX" sz="1450" noProof="1">
              <a:solidFill>
                <a:srgbClr val="666666"/>
              </a:solidFill>
              <a:latin typeface="Barlow" pitchFamily="2" charset="77"/>
            </a:endParaRPr>
          </a:p>
          <a:p>
            <a:pPr algn="just"/>
            <a:r>
              <a:rPr lang="es-MX" sz="1450" b="1" noProof="1">
                <a:solidFill>
                  <a:schemeClr val="accent1">
                    <a:lumMod val="75000"/>
                  </a:schemeClr>
                </a:solidFill>
                <a:latin typeface="Barlow" pitchFamily="2" charset="77"/>
              </a:rPr>
              <a:t>Serial Number</a:t>
            </a:r>
            <a:r>
              <a:rPr lang="es-MX" sz="1450" noProof="1">
                <a:solidFill>
                  <a:srgbClr val="666666"/>
                </a:solidFill>
                <a:latin typeface="Barlow" pitchFamily="2" charset="77"/>
              </a:rPr>
              <a:t>: identificador único del certificado; sirve para rastrearlo, auditarlo o revocarlo.</a:t>
            </a:r>
          </a:p>
          <a:p>
            <a:pPr algn="just"/>
            <a:endParaRPr lang="es-MX" sz="1450" noProof="1">
              <a:solidFill>
                <a:srgbClr val="666666"/>
              </a:solidFill>
              <a:latin typeface="Barlow" pitchFamily="2" charset="77"/>
            </a:endParaRPr>
          </a:p>
          <a:p>
            <a:pPr algn="just"/>
            <a:r>
              <a:rPr lang="es-MX" sz="1450" b="1" noProof="1">
                <a:solidFill>
                  <a:schemeClr val="accent1">
                    <a:lumMod val="75000"/>
                  </a:schemeClr>
                </a:solidFill>
                <a:latin typeface="Barlow" pitchFamily="2" charset="77"/>
              </a:rPr>
              <a:t>Validity</a:t>
            </a:r>
            <a:r>
              <a:rPr lang="es-MX" sz="1450" noProof="1">
                <a:solidFill>
                  <a:srgbClr val="666666"/>
                </a:solidFill>
                <a:latin typeface="Barlow" pitchFamily="2" charset="77"/>
              </a:rPr>
              <a:t>: indica el periodo de validez del certificado, desde qué fecha hasta qué fecha funciona.</a:t>
            </a:r>
          </a:p>
          <a:p>
            <a:pPr algn="just"/>
            <a:endParaRPr lang="es-MX" sz="1450" noProof="1">
              <a:solidFill>
                <a:srgbClr val="666666"/>
              </a:solidFill>
              <a:latin typeface="Barlow" pitchFamily="2" charset="77"/>
            </a:endParaRPr>
          </a:p>
          <a:p>
            <a:pPr algn="just"/>
            <a:r>
              <a:rPr lang="es-MX" sz="1450" b="1" noProof="1">
                <a:solidFill>
                  <a:schemeClr val="accent1">
                    <a:lumMod val="75000"/>
                  </a:schemeClr>
                </a:solidFill>
                <a:latin typeface="Barlow" pitchFamily="2" charset="77"/>
              </a:rPr>
              <a:t>Public Key: </a:t>
            </a:r>
            <a:r>
              <a:rPr lang="es-MX" sz="1450" noProof="1">
                <a:solidFill>
                  <a:srgbClr val="666666"/>
                </a:solidFill>
                <a:latin typeface="Barlow" pitchFamily="2" charset="77"/>
              </a:rPr>
              <a:t>clave pública del certificado; se usa durante TLS para validar identidad y ayudar a establecer la comunicación segura.</a:t>
            </a:r>
          </a:p>
          <a:p>
            <a:pPr algn="just"/>
            <a:endParaRPr lang="es-MX" sz="1450" noProof="1">
              <a:solidFill>
                <a:srgbClr val="666666"/>
              </a:solidFill>
              <a:latin typeface="Barlow" pitchFamily="2" charset="77"/>
            </a:endParaRPr>
          </a:p>
          <a:p>
            <a:pPr algn="just"/>
            <a:r>
              <a:rPr lang="es-MX" sz="1450" b="1" noProof="1">
                <a:solidFill>
                  <a:schemeClr val="accent1">
                    <a:lumMod val="75000"/>
                  </a:schemeClr>
                </a:solidFill>
                <a:latin typeface="Barlow" pitchFamily="2" charset="77"/>
              </a:rPr>
              <a:t>Signature Algorithm: </a:t>
            </a:r>
            <a:r>
              <a:rPr lang="es-MX" sz="1450" noProof="1">
                <a:solidFill>
                  <a:srgbClr val="666666"/>
                </a:solidFill>
                <a:latin typeface="Barlow" pitchFamily="2" charset="77"/>
              </a:rPr>
              <a:t>algoritmo usado por la CA para firmar el certificado, por ejemplo SHA256withRSA.</a:t>
            </a:r>
          </a:p>
          <a:p>
            <a:pPr algn="just"/>
            <a:endParaRPr lang="es-MX" sz="1450" noProof="1">
              <a:solidFill>
                <a:srgbClr val="666666"/>
              </a:solidFill>
              <a:latin typeface="Barlow" pitchFamily="2" charset="77"/>
            </a:endParaRPr>
          </a:p>
          <a:p>
            <a:pPr algn="just"/>
            <a:r>
              <a:rPr lang="es-MX" sz="1450" b="1" noProof="1">
                <a:solidFill>
                  <a:schemeClr val="accent1">
                    <a:lumMod val="75000"/>
                  </a:schemeClr>
                </a:solidFill>
                <a:latin typeface="Barlow" pitchFamily="2" charset="77"/>
              </a:rPr>
              <a:t>SAN: Subject Alternative Name; </a:t>
            </a:r>
            <a:r>
              <a:rPr lang="es-MX" sz="1450" noProof="1">
                <a:solidFill>
                  <a:srgbClr val="666666"/>
                </a:solidFill>
                <a:latin typeface="Barlow" pitchFamily="2" charset="77"/>
              </a:rPr>
              <a:t>lista los dominios o IPs para los que el certificado es válido, por ejemplo DNS:api.banco.com.</a:t>
            </a:r>
          </a:p>
          <a:p>
            <a:pPr algn="just"/>
            <a:endParaRPr lang="es-MX" sz="1450" noProof="1">
              <a:solidFill>
                <a:srgbClr val="666666"/>
              </a:solidFill>
              <a:latin typeface="Barlow" pitchFamily="2" charset="77"/>
            </a:endParaRPr>
          </a:p>
          <a:p>
            <a:pPr algn="just"/>
            <a:r>
              <a:rPr lang="es-MX" sz="1450" b="1" noProof="1">
                <a:solidFill>
                  <a:schemeClr val="accent1">
                    <a:lumMod val="75000"/>
                  </a:schemeClr>
                </a:solidFill>
                <a:latin typeface="Barlow" pitchFamily="2" charset="77"/>
              </a:rPr>
              <a:t>Certificate Chain: </a:t>
            </a:r>
            <a:r>
              <a:rPr lang="es-MX" sz="1450" noProof="1">
                <a:solidFill>
                  <a:srgbClr val="666666"/>
                </a:solidFill>
                <a:latin typeface="Barlow" pitchFamily="2" charset="77"/>
              </a:rPr>
              <a:t>cadena de certificados que conecta el certificado del servidor con una CA confiable.</a:t>
            </a:r>
          </a:p>
          <a:p>
            <a:pPr algn="just"/>
            <a:endParaRPr lang="es-MX" sz="1450" noProof="1">
              <a:solidFill>
                <a:srgbClr val="666666"/>
              </a:solidFill>
              <a:latin typeface="Barlow" pitchFamily="2" charset="77"/>
            </a:endParaRPr>
          </a:p>
        </p:txBody>
      </p:sp>
      <p:sp>
        <p:nvSpPr>
          <p:cNvPr id="2" name="Google Shape;164;p28">
            <a:extLst>
              <a:ext uri="{FF2B5EF4-FFF2-40B4-BE49-F238E27FC236}">
                <a16:creationId xmlns:a16="http://schemas.microsoft.com/office/drawing/2014/main" id="{3E19A3EA-AB72-EC92-25E6-1110C0BE65FA}"/>
              </a:ext>
            </a:extLst>
          </p:cNvPr>
          <p:cNvSpPr txBox="1">
            <a:spLocks/>
          </p:cNvSpPr>
          <p:nvPr/>
        </p:nvSpPr>
        <p:spPr>
          <a:xfrm>
            <a:off x="291308" y="247975"/>
            <a:ext cx="6562074" cy="6457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buSzPts val="990"/>
            </a:pPr>
            <a:r>
              <a:rPr lang="es-MX" sz="2720" noProof="1">
                <a:solidFill>
                  <a:schemeClr val="accent4"/>
                </a:solidFill>
                <a:latin typeface="Barlow Medium"/>
                <a:ea typeface="Barlow Medium"/>
                <a:cs typeface="Barlow Medium"/>
                <a:sym typeface="Barlow Medium"/>
              </a:rPr>
              <a:t>CERTIFICADOS </a:t>
            </a:r>
            <a:r>
              <a:rPr lang="es-MX" sz="2720" noProof="1">
                <a:solidFill>
                  <a:schemeClr val="dk2"/>
                </a:solidFill>
                <a:latin typeface="Barlow Medium"/>
                <a:ea typeface="Barlow Medium"/>
                <a:cs typeface="Barlow Medium"/>
                <a:sym typeface="Barlow Medium"/>
              </a:rPr>
              <a:t>SSL / TLS</a:t>
            </a:r>
          </a:p>
        </p:txBody>
      </p:sp>
    </p:spTree>
    <p:extLst>
      <p:ext uri="{BB962C8B-B14F-4D97-AF65-F5344CB8AC3E}">
        <p14:creationId xmlns:p14="http://schemas.microsoft.com/office/powerpoint/2010/main" val="255264844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5">
          <a:extLst>
            <a:ext uri="{FF2B5EF4-FFF2-40B4-BE49-F238E27FC236}">
              <a16:creationId xmlns:a16="http://schemas.microsoft.com/office/drawing/2014/main" id="{0D6BBE6E-2A8D-3E2E-39CD-2A241FB5A7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6">
            <a:extLst>
              <a:ext uri="{FF2B5EF4-FFF2-40B4-BE49-F238E27FC236}">
                <a16:creationId xmlns:a16="http://schemas.microsoft.com/office/drawing/2014/main" id="{EDA1D397-BA41-AB90-438A-0A939A0A8280}"/>
              </a:ext>
            </a:extLst>
          </p:cNvPr>
          <p:cNvSpPr/>
          <p:nvPr/>
        </p:nvSpPr>
        <p:spPr>
          <a:xfrm>
            <a:off x="5206662" y="1102925"/>
            <a:ext cx="3581700" cy="3581700"/>
          </a:xfrm>
          <a:prstGeom prst="ellipse">
            <a:avLst/>
          </a:prstGeom>
          <a:noFill/>
          <a:ln w="19050" cap="flat" cmpd="sng">
            <a:solidFill>
              <a:srgbClr val="F0F8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noProof="1"/>
              <a:t>          </a:t>
            </a:r>
          </a:p>
        </p:txBody>
      </p:sp>
      <p:sp>
        <p:nvSpPr>
          <p:cNvPr id="89" name="Google Shape;89;p16">
            <a:extLst>
              <a:ext uri="{FF2B5EF4-FFF2-40B4-BE49-F238E27FC236}">
                <a16:creationId xmlns:a16="http://schemas.microsoft.com/office/drawing/2014/main" id="{FFA509B6-770A-C175-10EC-9D696E13DD1A}"/>
              </a:ext>
            </a:extLst>
          </p:cNvPr>
          <p:cNvSpPr/>
          <p:nvPr/>
        </p:nvSpPr>
        <p:spPr>
          <a:xfrm>
            <a:off x="7733608" y="2549032"/>
            <a:ext cx="1242300" cy="1242300"/>
          </a:xfrm>
          <a:prstGeom prst="ellipse">
            <a:avLst/>
          </a:prstGeom>
          <a:solidFill>
            <a:srgbClr val="CC0000">
              <a:alpha val="633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s-MX" noProof="1"/>
          </a:p>
        </p:txBody>
      </p:sp>
      <p:sp>
        <p:nvSpPr>
          <p:cNvPr id="92" name="Google Shape;92;p16">
            <a:extLst>
              <a:ext uri="{FF2B5EF4-FFF2-40B4-BE49-F238E27FC236}">
                <a16:creationId xmlns:a16="http://schemas.microsoft.com/office/drawing/2014/main" id="{514A0991-1540-6640-8219-10D6F94603DA}"/>
              </a:ext>
            </a:extLst>
          </p:cNvPr>
          <p:cNvSpPr/>
          <p:nvPr/>
        </p:nvSpPr>
        <p:spPr>
          <a:xfrm>
            <a:off x="4945074" y="3456380"/>
            <a:ext cx="1474500" cy="1474500"/>
          </a:xfrm>
          <a:prstGeom prst="ellipse">
            <a:avLst/>
          </a:prstGeom>
          <a:solidFill>
            <a:srgbClr val="FFE599">
              <a:alpha val="2468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s-MX" noProof="1"/>
          </a:p>
        </p:txBody>
      </p:sp>
      <p:sp>
        <p:nvSpPr>
          <p:cNvPr id="93" name="Google Shape;93;p16">
            <a:extLst>
              <a:ext uri="{FF2B5EF4-FFF2-40B4-BE49-F238E27FC236}">
                <a16:creationId xmlns:a16="http://schemas.microsoft.com/office/drawing/2014/main" id="{08772C47-85B9-C641-9960-A09E04DF6008}"/>
              </a:ext>
            </a:extLst>
          </p:cNvPr>
          <p:cNvSpPr/>
          <p:nvPr/>
        </p:nvSpPr>
        <p:spPr>
          <a:xfrm>
            <a:off x="6988025" y="3863083"/>
            <a:ext cx="1194000" cy="1194000"/>
          </a:xfrm>
          <a:prstGeom prst="ellipse">
            <a:avLst/>
          </a:prstGeom>
          <a:solidFill>
            <a:srgbClr val="FF0000">
              <a:alpha val="696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s-MX" noProof="1"/>
          </a:p>
        </p:txBody>
      </p:sp>
      <p:sp>
        <p:nvSpPr>
          <p:cNvPr id="117" name="Google Shape;117;p16">
            <a:extLst>
              <a:ext uri="{FF2B5EF4-FFF2-40B4-BE49-F238E27FC236}">
                <a16:creationId xmlns:a16="http://schemas.microsoft.com/office/drawing/2014/main" id="{08C5B007-A8E9-79F1-58AD-2AE9090166A6}"/>
              </a:ext>
            </a:extLst>
          </p:cNvPr>
          <p:cNvSpPr txBox="1"/>
          <p:nvPr/>
        </p:nvSpPr>
        <p:spPr>
          <a:xfrm>
            <a:off x="291308" y="745257"/>
            <a:ext cx="7675570" cy="5623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s-MX" sz="1450" noProof="1">
                <a:solidFill>
                  <a:srgbClr val="666666"/>
                </a:solidFill>
                <a:latin typeface="Barlow" pitchFamily="2" charset="77"/>
              </a:rPr>
              <a:t>Un </a:t>
            </a:r>
            <a:r>
              <a:rPr lang="es-MX" sz="1450" b="1" noProof="1">
                <a:solidFill>
                  <a:schemeClr val="accent1">
                    <a:lumMod val="75000"/>
                  </a:schemeClr>
                </a:solidFill>
                <a:latin typeface="Barlow" pitchFamily="2" charset="77"/>
              </a:rPr>
              <a:t>keystore</a:t>
            </a:r>
            <a:r>
              <a:rPr lang="es-MX" sz="1450" noProof="1">
                <a:solidFill>
                  <a:srgbClr val="666666"/>
                </a:solidFill>
                <a:latin typeface="Barlow" pitchFamily="2" charset="77"/>
              </a:rPr>
              <a:t> guarda la identidad de una aplicación (Quien soy) 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s-MX" sz="1450" noProof="1">
                <a:solidFill>
                  <a:srgbClr val="666666"/>
                </a:solidFill>
                <a:latin typeface="Barlow" pitchFamily="2" charset="77"/>
              </a:rPr>
              <a:t>Un </a:t>
            </a:r>
            <a:r>
              <a:rPr lang="es-MX" sz="1450" b="1" noProof="1">
                <a:solidFill>
                  <a:schemeClr val="accent1">
                    <a:lumMod val="75000"/>
                  </a:schemeClr>
                </a:solidFill>
                <a:latin typeface="Barlow" pitchFamily="2" charset="77"/>
              </a:rPr>
              <a:t>truststore</a:t>
            </a:r>
            <a:r>
              <a:rPr lang="es-MX" sz="1450" noProof="1">
                <a:solidFill>
                  <a:srgbClr val="666666"/>
                </a:solidFill>
                <a:latin typeface="Barlow" pitchFamily="2" charset="77"/>
              </a:rPr>
              <a:t> guarda certificados confiables.(En quien confio).</a:t>
            </a:r>
          </a:p>
        </p:txBody>
      </p:sp>
      <p:sp>
        <p:nvSpPr>
          <p:cNvPr id="2" name="Google Shape;164;p28">
            <a:extLst>
              <a:ext uri="{FF2B5EF4-FFF2-40B4-BE49-F238E27FC236}">
                <a16:creationId xmlns:a16="http://schemas.microsoft.com/office/drawing/2014/main" id="{B31ABF28-2FF0-3D1E-7C78-FFEE012EE65C}"/>
              </a:ext>
            </a:extLst>
          </p:cNvPr>
          <p:cNvSpPr txBox="1">
            <a:spLocks/>
          </p:cNvSpPr>
          <p:nvPr/>
        </p:nvSpPr>
        <p:spPr>
          <a:xfrm>
            <a:off x="291308" y="247975"/>
            <a:ext cx="8395492" cy="6457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buSzPts val="990"/>
            </a:pPr>
            <a:r>
              <a:rPr lang="es-MX" sz="2720" noProof="1">
                <a:solidFill>
                  <a:schemeClr val="accent4"/>
                </a:solidFill>
                <a:latin typeface="Barlow Medium"/>
                <a:ea typeface="Barlow Medium"/>
                <a:cs typeface="Barlow Medium"/>
                <a:sym typeface="Barlow Medium"/>
              </a:rPr>
              <a:t>KEYSTORE Y </a:t>
            </a:r>
            <a:r>
              <a:rPr lang="es-MX" sz="2720" noProof="1">
                <a:solidFill>
                  <a:schemeClr val="dk2"/>
                </a:solidFill>
                <a:latin typeface="Barlow Medium"/>
                <a:ea typeface="Barlow Medium"/>
                <a:cs typeface="Barlow Medium"/>
                <a:sym typeface="Barlow Medium"/>
              </a:rPr>
              <a:t>TRUSTSTORE</a:t>
            </a:r>
          </a:p>
        </p:txBody>
      </p:sp>
      <p:sp>
        <p:nvSpPr>
          <p:cNvPr id="4" name="Google Shape;88;p16">
            <a:extLst>
              <a:ext uri="{FF2B5EF4-FFF2-40B4-BE49-F238E27FC236}">
                <a16:creationId xmlns:a16="http://schemas.microsoft.com/office/drawing/2014/main" id="{5CDE8BCA-4281-8B66-6060-B678CF3C8E68}"/>
              </a:ext>
            </a:extLst>
          </p:cNvPr>
          <p:cNvSpPr/>
          <p:nvPr/>
        </p:nvSpPr>
        <p:spPr>
          <a:xfrm>
            <a:off x="7592008" y="2072480"/>
            <a:ext cx="1383900" cy="1383900"/>
          </a:xfrm>
          <a:prstGeom prst="ellipse">
            <a:avLst/>
          </a:prstGeom>
          <a:noFill/>
          <a:ln w="19050" cap="flat" cmpd="sng">
            <a:solidFill>
              <a:srgbClr val="9FC5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s-MX" noProof="1"/>
          </a:p>
        </p:txBody>
      </p:sp>
      <p:pic>
        <p:nvPicPr>
          <p:cNvPr id="5" name="Picture 2" descr="Montar un servidor de pruebas de SonarQube en Dev Containers y GitHub  Codespaces - return(GiS);">
            <a:extLst>
              <a:ext uri="{FF2B5EF4-FFF2-40B4-BE49-F238E27FC236}">
                <a16:creationId xmlns:a16="http://schemas.microsoft.com/office/drawing/2014/main" id="{BA8F5411-4117-C8A8-71C7-F09674E000E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46980" y="2072480"/>
            <a:ext cx="1328928" cy="13289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6" name="Tabla 5">
            <a:extLst>
              <a:ext uri="{FF2B5EF4-FFF2-40B4-BE49-F238E27FC236}">
                <a16:creationId xmlns:a16="http://schemas.microsoft.com/office/drawing/2014/main" id="{4F8E6150-BFBB-0D3A-1B23-130C1EA83F7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94266865"/>
              </p:ext>
            </p:extLst>
          </p:nvPr>
        </p:nvGraphicFramePr>
        <p:xfrm>
          <a:off x="355638" y="1493782"/>
          <a:ext cx="8542998" cy="3566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47666">
                  <a:extLst>
                    <a:ext uri="{9D8B030D-6E8A-4147-A177-3AD203B41FA5}">
                      <a16:colId xmlns:a16="http://schemas.microsoft.com/office/drawing/2014/main" val="450551808"/>
                    </a:ext>
                  </a:extLst>
                </a:gridCol>
                <a:gridCol w="2847666">
                  <a:extLst>
                    <a:ext uri="{9D8B030D-6E8A-4147-A177-3AD203B41FA5}">
                      <a16:colId xmlns:a16="http://schemas.microsoft.com/office/drawing/2014/main" val="3082363947"/>
                    </a:ext>
                  </a:extLst>
                </a:gridCol>
                <a:gridCol w="2847666">
                  <a:extLst>
                    <a:ext uri="{9D8B030D-6E8A-4147-A177-3AD203B41FA5}">
                      <a16:colId xmlns:a16="http://schemas.microsoft.com/office/drawing/2014/main" val="33806996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s-MX" b="1" baseline="0" dirty="0">
                          <a:solidFill>
                            <a:srgbClr val="1F1F1F"/>
                          </a:solidFill>
                          <a:effectLst/>
                          <a:latin typeface="Barlow" pitchFamily="2" charset="77"/>
                        </a:rPr>
                        <a:t>Característica técnica</a:t>
                      </a:r>
                      <a:endParaRPr lang="es-MX" baseline="0" dirty="0">
                        <a:solidFill>
                          <a:srgbClr val="1F1F1F"/>
                        </a:solidFill>
                        <a:effectLst/>
                        <a:latin typeface="Barlow" pitchFamily="2" charset="77"/>
                      </a:endParaRPr>
                    </a:p>
                  </a:txBody>
                  <a:tcPr marR="114300" marT="152400" marB="152400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s-MX" b="1" baseline="0">
                          <a:solidFill>
                            <a:srgbClr val="1F1F1F"/>
                          </a:solidFill>
                          <a:effectLst/>
                          <a:latin typeface="Barlow" pitchFamily="2" charset="77"/>
                        </a:rPr>
                        <a:t>Keystore (Identidad)</a:t>
                      </a:r>
                      <a:endParaRPr lang="es-MX" baseline="0">
                        <a:solidFill>
                          <a:srgbClr val="1F1F1F"/>
                        </a:solidFill>
                        <a:effectLst/>
                        <a:latin typeface="Barlow" pitchFamily="2" charset="77"/>
                      </a:endParaRPr>
                    </a:p>
                  </a:txBody>
                  <a:tcPr marR="114300" marT="152400" marB="152400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s-MX" b="1" baseline="0">
                          <a:solidFill>
                            <a:srgbClr val="1F1F1F"/>
                          </a:solidFill>
                          <a:effectLst/>
                          <a:latin typeface="Barlow" pitchFamily="2" charset="77"/>
                        </a:rPr>
                        <a:t>Truststore (Confianza)</a:t>
                      </a:r>
                      <a:endParaRPr lang="es-MX" baseline="0">
                        <a:solidFill>
                          <a:srgbClr val="1F1F1F"/>
                        </a:solidFill>
                        <a:effectLst/>
                        <a:latin typeface="Barlow" pitchFamily="2" charset="77"/>
                      </a:endParaRPr>
                    </a:p>
                  </a:txBody>
                  <a:tcPr marT="152400" marB="152400" anchor="ctr"/>
                </a:tc>
                <a:extLst>
                  <a:ext uri="{0D108BD9-81ED-4DB2-BD59-A6C34878D82A}">
                    <a16:rowId xmlns:a16="http://schemas.microsoft.com/office/drawing/2014/main" val="2466512518"/>
                  </a:ext>
                </a:extLst>
              </a:tr>
              <a:tr h="666345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s-MX" b="1" baseline="0" dirty="0">
                          <a:solidFill>
                            <a:srgbClr val="1F1F1F"/>
                          </a:solidFill>
                          <a:effectLst/>
                          <a:latin typeface="Barlow" pitchFamily="2" charset="77"/>
                        </a:rPr>
                        <a:t>Propósito</a:t>
                      </a:r>
                      <a:endParaRPr lang="es-MX" baseline="0" dirty="0">
                        <a:solidFill>
                          <a:srgbClr val="1F1F1F"/>
                        </a:solidFill>
                        <a:effectLst/>
                        <a:latin typeface="Barlow" pitchFamily="2" charset="77"/>
                      </a:endParaRPr>
                    </a:p>
                  </a:txBody>
                  <a:tcPr marR="114300" marT="152400" marB="152400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s-MX" baseline="0" dirty="0">
                          <a:solidFill>
                            <a:srgbClr val="1F1F1F"/>
                          </a:solidFill>
                          <a:effectLst/>
                          <a:latin typeface="Barlow" pitchFamily="2" charset="77"/>
                        </a:rPr>
                        <a:t>Demostrar criptográficamente quién es tu microservicio.</a:t>
                      </a:r>
                    </a:p>
                  </a:txBody>
                  <a:tcPr marR="114300" marT="152400" marB="152400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s-MX" baseline="0" dirty="0">
                          <a:solidFill>
                            <a:srgbClr val="1F1F1F"/>
                          </a:solidFill>
                          <a:effectLst/>
                          <a:latin typeface="Barlow" pitchFamily="2" charset="77"/>
                        </a:rPr>
                        <a:t>Determinar que certificados acepta mi microservicio</a:t>
                      </a:r>
                    </a:p>
                  </a:txBody>
                  <a:tcPr marT="152400" marB="152400" anchor="ctr"/>
                </a:tc>
                <a:extLst>
                  <a:ext uri="{0D108BD9-81ED-4DB2-BD59-A6C34878D82A}">
                    <a16:rowId xmlns:a16="http://schemas.microsoft.com/office/drawing/2014/main" val="343826646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s-MX" b="1" baseline="0" dirty="0">
                          <a:solidFill>
                            <a:srgbClr val="1F1F1F"/>
                          </a:solidFill>
                          <a:effectLst/>
                          <a:latin typeface="Barlow" pitchFamily="2" charset="77"/>
                        </a:rPr>
                        <a:t>Contenido Técnico</a:t>
                      </a:r>
                      <a:endParaRPr lang="es-MX" baseline="0" dirty="0">
                        <a:solidFill>
                          <a:srgbClr val="1F1F1F"/>
                        </a:solidFill>
                        <a:effectLst/>
                        <a:latin typeface="Barlow" pitchFamily="2" charset="77"/>
                      </a:endParaRPr>
                    </a:p>
                  </a:txBody>
                  <a:tcPr marR="114300" marT="152400" marB="152400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s-MX" baseline="0" dirty="0">
                          <a:solidFill>
                            <a:srgbClr val="1F1F1F"/>
                          </a:solidFill>
                          <a:effectLst/>
                          <a:latin typeface="Barlow" pitchFamily="2" charset="77"/>
                        </a:rPr>
                        <a:t>Contiene </a:t>
                      </a:r>
                      <a:r>
                        <a:rPr lang="es-MX" b="1" baseline="0" dirty="0">
                          <a:solidFill>
                            <a:srgbClr val="1F1F1F"/>
                          </a:solidFill>
                          <a:effectLst/>
                          <a:latin typeface="Barlow" pitchFamily="2" charset="77"/>
                        </a:rPr>
                        <a:t>Tu Llave Privada </a:t>
                      </a:r>
                      <a:r>
                        <a:rPr lang="es-MX" baseline="0" dirty="0">
                          <a:solidFill>
                            <a:srgbClr val="1F1F1F"/>
                          </a:solidFill>
                          <a:effectLst/>
                          <a:latin typeface="Barlow" pitchFamily="2" charset="77"/>
                        </a:rPr>
                        <a:t>+ Tu Certificado Público.</a:t>
                      </a:r>
                    </a:p>
                  </a:txBody>
                  <a:tcPr marR="114300" marT="152400" marB="152400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s-MX" baseline="0" dirty="0">
                          <a:solidFill>
                            <a:srgbClr val="1F1F1F"/>
                          </a:solidFill>
                          <a:effectLst/>
                          <a:latin typeface="Barlow" pitchFamily="2" charset="77"/>
                        </a:rPr>
                        <a:t>Contiene </a:t>
                      </a:r>
                      <a:r>
                        <a:rPr lang="es-MX" b="1" baseline="0" dirty="0">
                          <a:solidFill>
                            <a:srgbClr val="1F1F1F"/>
                          </a:solidFill>
                          <a:effectLst/>
                          <a:latin typeface="Barlow" pitchFamily="2" charset="77"/>
                        </a:rPr>
                        <a:t>solo Certificados Públicos</a:t>
                      </a:r>
                      <a:r>
                        <a:rPr lang="es-MX" baseline="0" dirty="0">
                          <a:solidFill>
                            <a:srgbClr val="1F1F1F"/>
                          </a:solidFill>
                          <a:effectLst/>
                          <a:latin typeface="Barlow" pitchFamily="2" charset="77"/>
                        </a:rPr>
                        <a:t> (de Autoridades Certificadoras o de otros microservicios). </a:t>
                      </a:r>
                    </a:p>
                  </a:txBody>
                  <a:tcPr marT="152400" marB="152400" anchor="ctr"/>
                </a:tc>
                <a:extLst>
                  <a:ext uri="{0D108BD9-81ED-4DB2-BD59-A6C34878D82A}">
                    <a16:rowId xmlns:a16="http://schemas.microsoft.com/office/drawing/2014/main" val="310966464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s-MX" b="1" baseline="0">
                          <a:solidFill>
                            <a:srgbClr val="1F1F1F"/>
                          </a:solidFill>
                          <a:effectLst/>
                          <a:latin typeface="Barlow" pitchFamily="2" charset="77"/>
                        </a:rPr>
                        <a:t>Uso en TLS Estándar</a:t>
                      </a:r>
                      <a:endParaRPr lang="es-MX" baseline="0">
                        <a:solidFill>
                          <a:srgbClr val="1F1F1F"/>
                        </a:solidFill>
                        <a:effectLst/>
                        <a:latin typeface="Barlow" pitchFamily="2" charset="77"/>
                      </a:endParaRPr>
                    </a:p>
                  </a:txBody>
                  <a:tcPr marR="114300" marT="152400" marB="152400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s-MX" baseline="0" dirty="0">
                          <a:solidFill>
                            <a:srgbClr val="1F1F1F"/>
                          </a:solidFill>
                          <a:effectLst/>
                          <a:latin typeface="Barlow" pitchFamily="2" charset="77"/>
                        </a:rPr>
                        <a:t>El </a:t>
                      </a:r>
                      <a:r>
                        <a:rPr lang="es-MX" b="1" baseline="0" dirty="0">
                          <a:solidFill>
                            <a:srgbClr val="1F1F1F"/>
                          </a:solidFill>
                          <a:effectLst/>
                          <a:latin typeface="Barlow" pitchFamily="2" charset="77"/>
                        </a:rPr>
                        <a:t>Servidor</a:t>
                      </a:r>
                      <a:r>
                        <a:rPr lang="es-MX" baseline="0" dirty="0">
                          <a:solidFill>
                            <a:srgbClr val="1F1F1F"/>
                          </a:solidFill>
                          <a:effectLst/>
                          <a:latin typeface="Barlow" pitchFamily="2" charset="77"/>
                        </a:rPr>
                        <a:t> lo necesita para levantar el puerto HTTPS y presentar su certificado.</a:t>
                      </a:r>
                    </a:p>
                  </a:txBody>
                  <a:tcPr marR="114300" marT="152400" marB="152400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s-MX" baseline="0" dirty="0">
                          <a:solidFill>
                            <a:srgbClr val="1F1F1F"/>
                          </a:solidFill>
                          <a:effectLst/>
                          <a:latin typeface="Barlow" pitchFamily="2" charset="77"/>
                        </a:rPr>
                        <a:t>El </a:t>
                      </a:r>
                      <a:r>
                        <a:rPr lang="es-MX" b="1" baseline="0" dirty="0">
                          <a:solidFill>
                            <a:srgbClr val="1F1F1F"/>
                          </a:solidFill>
                          <a:effectLst/>
                          <a:latin typeface="Barlow" pitchFamily="2" charset="77"/>
                        </a:rPr>
                        <a:t>Cliente</a:t>
                      </a:r>
                      <a:r>
                        <a:rPr lang="es-MX" baseline="0" dirty="0">
                          <a:solidFill>
                            <a:srgbClr val="1F1F1F"/>
                          </a:solidFill>
                          <a:effectLst/>
                          <a:latin typeface="Barlow" pitchFamily="2" charset="77"/>
                        </a:rPr>
                        <a:t> lo necesita para verificar que el certificado que le da el servidor es legítimo antes de enviar datos.</a:t>
                      </a:r>
                    </a:p>
                  </a:txBody>
                  <a:tcPr marT="152400" marB="152400" anchor="ctr"/>
                </a:tc>
                <a:extLst>
                  <a:ext uri="{0D108BD9-81ED-4DB2-BD59-A6C34878D82A}">
                    <a16:rowId xmlns:a16="http://schemas.microsoft.com/office/drawing/2014/main" val="129826433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3285125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5">
          <a:extLst>
            <a:ext uri="{FF2B5EF4-FFF2-40B4-BE49-F238E27FC236}">
              <a16:creationId xmlns:a16="http://schemas.microsoft.com/office/drawing/2014/main" id="{049604AD-105D-EC26-572A-CC6DC49FB2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6">
            <a:extLst>
              <a:ext uri="{FF2B5EF4-FFF2-40B4-BE49-F238E27FC236}">
                <a16:creationId xmlns:a16="http://schemas.microsoft.com/office/drawing/2014/main" id="{560A2C77-B12F-4CA3-DACD-63FF7660F689}"/>
              </a:ext>
            </a:extLst>
          </p:cNvPr>
          <p:cNvSpPr/>
          <p:nvPr/>
        </p:nvSpPr>
        <p:spPr>
          <a:xfrm>
            <a:off x="5206662" y="1102925"/>
            <a:ext cx="3581700" cy="3581700"/>
          </a:xfrm>
          <a:prstGeom prst="ellipse">
            <a:avLst/>
          </a:prstGeom>
          <a:noFill/>
          <a:ln w="19050" cap="flat" cmpd="sng">
            <a:solidFill>
              <a:srgbClr val="F0F8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noProof="1"/>
              <a:t>          </a:t>
            </a:r>
          </a:p>
        </p:txBody>
      </p:sp>
      <p:sp>
        <p:nvSpPr>
          <p:cNvPr id="89" name="Google Shape;89;p16">
            <a:extLst>
              <a:ext uri="{FF2B5EF4-FFF2-40B4-BE49-F238E27FC236}">
                <a16:creationId xmlns:a16="http://schemas.microsoft.com/office/drawing/2014/main" id="{DF219D40-54B7-BFBC-B697-5B4E96D61FF0}"/>
              </a:ext>
            </a:extLst>
          </p:cNvPr>
          <p:cNvSpPr/>
          <p:nvPr/>
        </p:nvSpPr>
        <p:spPr>
          <a:xfrm>
            <a:off x="7733608" y="2549032"/>
            <a:ext cx="1242300" cy="1242300"/>
          </a:xfrm>
          <a:prstGeom prst="ellipse">
            <a:avLst/>
          </a:prstGeom>
          <a:solidFill>
            <a:srgbClr val="CC0000">
              <a:alpha val="633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s-MX" noProof="1"/>
          </a:p>
        </p:txBody>
      </p:sp>
      <p:sp>
        <p:nvSpPr>
          <p:cNvPr id="92" name="Google Shape;92;p16">
            <a:extLst>
              <a:ext uri="{FF2B5EF4-FFF2-40B4-BE49-F238E27FC236}">
                <a16:creationId xmlns:a16="http://schemas.microsoft.com/office/drawing/2014/main" id="{C07AEF09-5F9E-F766-6E91-5015ACCEECF2}"/>
              </a:ext>
            </a:extLst>
          </p:cNvPr>
          <p:cNvSpPr/>
          <p:nvPr/>
        </p:nvSpPr>
        <p:spPr>
          <a:xfrm>
            <a:off x="4945074" y="3456380"/>
            <a:ext cx="1474500" cy="1474500"/>
          </a:xfrm>
          <a:prstGeom prst="ellipse">
            <a:avLst/>
          </a:prstGeom>
          <a:solidFill>
            <a:srgbClr val="FFE599">
              <a:alpha val="2468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s-MX" noProof="1"/>
          </a:p>
        </p:txBody>
      </p:sp>
      <p:sp>
        <p:nvSpPr>
          <p:cNvPr id="93" name="Google Shape;93;p16">
            <a:extLst>
              <a:ext uri="{FF2B5EF4-FFF2-40B4-BE49-F238E27FC236}">
                <a16:creationId xmlns:a16="http://schemas.microsoft.com/office/drawing/2014/main" id="{75B55AB3-6889-41DA-1C58-B9F26EB023B7}"/>
              </a:ext>
            </a:extLst>
          </p:cNvPr>
          <p:cNvSpPr/>
          <p:nvPr/>
        </p:nvSpPr>
        <p:spPr>
          <a:xfrm>
            <a:off x="6988025" y="3863083"/>
            <a:ext cx="1194000" cy="1194000"/>
          </a:xfrm>
          <a:prstGeom prst="ellipse">
            <a:avLst/>
          </a:prstGeom>
          <a:solidFill>
            <a:srgbClr val="FF0000">
              <a:alpha val="696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s-MX" noProof="1"/>
          </a:p>
        </p:txBody>
      </p:sp>
      <p:sp>
        <p:nvSpPr>
          <p:cNvPr id="2" name="Google Shape;164;p28">
            <a:extLst>
              <a:ext uri="{FF2B5EF4-FFF2-40B4-BE49-F238E27FC236}">
                <a16:creationId xmlns:a16="http://schemas.microsoft.com/office/drawing/2014/main" id="{70B6296B-59EB-BACD-3DA3-F6FFB2715701}"/>
              </a:ext>
            </a:extLst>
          </p:cNvPr>
          <p:cNvSpPr txBox="1">
            <a:spLocks/>
          </p:cNvSpPr>
          <p:nvPr/>
        </p:nvSpPr>
        <p:spPr>
          <a:xfrm>
            <a:off x="291307" y="247975"/>
            <a:ext cx="8411839" cy="854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buSzPts val="990"/>
            </a:pPr>
            <a:r>
              <a:rPr lang="es-MX" sz="2720" noProof="1">
                <a:solidFill>
                  <a:schemeClr val="accent4"/>
                </a:solidFill>
                <a:latin typeface="Barlow Medium"/>
                <a:ea typeface="Barlow Medium"/>
                <a:cs typeface="Barlow Medium"/>
                <a:sym typeface="Barlow Medium"/>
              </a:rPr>
              <a:t>GENERACION </a:t>
            </a:r>
            <a:r>
              <a:rPr lang="es-MX" sz="2720" noProof="1">
                <a:solidFill>
                  <a:schemeClr val="dk2"/>
                </a:solidFill>
                <a:latin typeface="Barlow Medium"/>
                <a:ea typeface="Barlow Medium"/>
                <a:cs typeface="Barlow Medium"/>
                <a:sym typeface="Barlow Medium"/>
              </a:rPr>
              <a:t>CERTICADOS – KEYTOOL VS OPENSSL</a:t>
            </a:r>
          </a:p>
        </p:txBody>
      </p:sp>
      <p:sp>
        <p:nvSpPr>
          <p:cNvPr id="4" name="Google Shape;88;p16">
            <a:extLst>
              <a:ext uri="{FF2B5EF4-FFF2-40B4-BE49-F238E27FC236}">
                <a16:creationId xmlns:a16="http://schemas.microsoft.com/office/drawing/2014/main" id="{A3E1974C-DB1A-6624-81E5-69416FDC7DEA}"/>
              </a:ext>
            </a:extLst>
          </p:cNvPr>
          <p:cNvSpPr/>
          <p:nvPr/>
        </p:nvSpPr>
        <p:spPr>
          <a:xfrm>
            <a:off x="7319246" y="2051708"/>
            <a:ext cx="1383900" cy="1383900"/>
          </a:xfrm>
          <a:prstGeom prst="ellipse">
            <a:avLst/>
          </a:prstGeom>
          <a:noFill/>
          <a:ln w="19050" cap="flat" cmpd="sng">
            <a:solidFill>
              <a:srgbClr val="9FC5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s-MX" noProof="1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C4C3E388-0DF2-B850-5E29-295CA35F8CB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8303" y="1006160"/>
            <a:ext cx="6696718" cy="3770561"/>
          </a:xfrm>
          <a:prstGeom prst="rect">
            <a:avLst/>
          </a:prstGeom>
        </p:spPr>
      </p:pic>
      <p:pic>
        <p:nvPicPr>
          <p:cNvPr id="7" name="Picture 2" descr="mTLS Explained | Beeceptor">
            <a:extLst>
              <a:ext uri="{FF2B5EF4-FFF2-40B4-BE49-F238E27FC236}">
                <a16:creationId xmlns:a16="http://schemas.microsoft.com/office/drawing/2014/main" id="{56481DFC-03A6-CE1B-5702-06D6B69CA6A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53382" y="2213716"/>
            <a:ext cx="2196821" cy="12577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4835738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5">
          <a:extLst>
            <a:ext uri="{FF2B5EF4-FFF2-40B4-BE49-F238E27FC236}">
              <a16:creationId xmlns:a16="http://schemas.microsoft.com/office/drawing/2014/main" id="{F99C6EDB-B916-D6E8-F9AC-5A70C90EDC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6">
            <a:extLst>
              <a:ext uri="{FF2B5EF4-FFF2-40B4-BE49-F238E27FC236}">
                <a16:creationId xmlns:a16="http://schemas.microsoft.com/office/drawing/2014/main" id="{FC694E3D-3C0D-4063-1AC9-0671CF799670}"/>
              </a:ext>
            </a:extLst>
          </p:cNvPr>
          <p:cNvSpPr/>
          <p:nvPr/>
        </p:nvSpPr>
        <p:spPr>
          <a:xfrm>
            <a:off x="5206662" y="1102925"/>
            <a:ext cx="3581700" cy="3581700"/>
          </a:xfrm>
          <a:prstGeom prst="ellipse">
            <a:avLst/>
          </a:prstGeom>
          <a:noFill/>
          <a:ln w="19050" cap="flat" cmpd="sng">
            <a:solidFill>
              <a:srgbClr val="F0F8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noProof="1"/>
              <a:t>          </a:t>
            </a:r>
          </a:p>
        </p:txBody>
      </p:sp>
      <p:sp>
        <p:nvSpPr>
          <p:cNvPr id="89" name="Google Shape;89;p16">
            <a:extLst>
              <a:ext uri="{FF2B5EF4-FFF2-40B4-BE49-F238E27FC236}">
                <a16:creationId xmlns:a16="http://schemas.microsoft.com/office/drawing/2014/main" id="{11AAC71A-B49A-AC6E-EED5-BBDDCE49511F}"/>
              </a:ext>
            </a:extLst>
          </p:cNvPr>
          <p:cNvSpPr/>
          <p:nvPr/>
        </p:nvSpPr>
        <p:spPr>
          <a:xfrm>
            <a:off x="7733608" y="2549032"/>
            <a:ext cx="1242300" cy="1242300"/>
          </a:xfrm>
          <a:prstGeom prst="ellipse">
            <a:avLst/>
          </a:prstGeom>
          <a:solidFill>
            <a:srgbClr val="CC0000">
              <a:alpha val="633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s-MX" noProof="1"/>
          </a:p>
        </p:txBody>
      </p:sp>
      <p:sp>
        <p:nvSpPr>
          <p:cNvPr id="92" name="Google Shape;92;p16">
            <a:extLst>
              <a:ext uri="{FF2B5EF4-FFF2-40B4-BE49-F238E27FC236}">
                <a16:creationId xmlns:a16="http://schemas.microsoft.com/office/drawing/2014/main" id="{2F1D0982-871E-7489-13DF-262F6DC73B3A}"/>
              </a:ext>
            </a:extLst>
          </p:cNvPr>
          <p:cNvSpPr/>
          <p:nvPr/>
        </p:nvSpPr>
        <p:spPr>
          <a:xfrm>
            <a:off x="4945074" y="3456380"/>
            <a:ext cx="1474500" cy="1474500"/>
          </a:xfrm>
          <a:prstGeom prst="ellipse">
            <a:avLst/>
          </a:prstGeom>
          <a:solidFill>
            <a:srgbClr val="FFE599">
              <a:alpha val="2468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s-MX" noProof="1"/>
          </a:p>
        </p:txBody>
      </p:sp>
      <p:sp>
        <p:nvSpPr>
          <p:cNvPr id="93" name="Google Shape;93;p16">
            <a:extLst>
              <a:ext uri="{FF2B5EF4-FFF2-40B4-BE49-F238E27FC236}">
                <a16:creationId xmlns:a16="http://schemas.microsoft.com/office/drawing/2014/main" id="{65AFFFC2-D578-586C-CEC4-ED28BC443A1F}"/>
              </a:ext>
            </a:extLst>
          </p:cNvPr>
          <p:cNvSpPr/>
          <p:nvPr/>
        </p:nvSpPr>
        <p:spPr>
          <a:xfrm>
            <a:off x="6988025" y="3863083"/>
            <a:ext cx="1194000" cy="1194000"/>
          </a:xfrm>
          <a:prstGeom prst="ellipse">
            <a:avLst/>
          </a:prstGeom>
          <a:solidFill>
            <a:srgbClr val="FF0000">
              <a:alpha val="696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s-MX" noProof="1"/>
          </a:p>
        </p:txBody>
      </p:sp>
      <p:sp>
        <p:nvSpPr>
          <p:cNvPr id="2" name="Google Shape;164;p28">
            <a:extLst>
              <a:ext uri="{FF2B5EF4-FFF2-40B4-BE49-F238E27FC236}">
                <a16:creationId xmlns:a16="http://schemas.microsoft.com/office/drawing/2014/main" id="{7E1EA3F3-146F-11DB-BC79-C65AC04C28B0}"/>
              </a:ext>
            </a:extLst>
          </p:cNvPr>
          <p:cNvSpPr txBox="1">
            <a:spLocks/>
          </p:cNvSpPr>
          <p:nvPr/>
        </p:nvSpPr>
        <p:spPr>
          <a:xfrm>
            <a:off x="291307" y="247975"/>
            <a:ext cx="8411839" cy="854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buSzPts val="990"/>
            </a:pPr>
            <a:r>
              <a:rPr lang="es-MX" sz="2720" noProof="1">
                <a:solidFill>
                  <a:schemeClr val="accent4"/>
                </a:solidFill>
                <a:latin typeface="Barlow Medium"/>
                <a:ea typeface="Barlow Medium"/>
                <a:cs typeface="Barlow Medium"/>
                <a:sym typeface="Barlow Medium"/>
              </a:rPr>
              <a:t>GENERACION </a:t>
            </a:r>
            <a:r>
              <a:rPr lang="es-MX" sz="2720" noProof="1">
                <a:solidFill>
                  <a:schemeClr val="dk2"/>
                </a:solidFill>
                <a:latin typeface="Barlow Medium"/>
                <a:ea typeface="Barlow Medium"/>
                <a:cs typeface="Barlow Medium"/>
                <a:sym typeface="Barlow Medium"/>
              </a:rPr>
              <a:t>CERTICADOS – KEYTOOL VS OPENSSL</a:t>
            </a:r>
          </a:p>
        </p:txBody>
      </p:sp>
      <p:sp>
        <p:nvSpPr>
          <p:cNvPr id="4" name="Google Shape;88;p16">
            <a:extLst>
              <a:ext uri="{FF2B5EF4-FFF2-40B4-BE49-F238E27FC236}">
                <a16:creationId xmlns:a16="http://schemas.microsoft.com/office/drawing/2014/main" id="{FDB22440-C0E7-1309-3BFD-985A3187F3C0}"/>
              </a:ext>
            </a:extLst>
          </p:cNvPr>
          <p:cNvSpPr/>
          <p:nvPr/>
        </p:nvSpPr>
        <p:spPr>
          <a:xfrm>
            <a:off x="7319246" y="2051708"/>
            <a:ext cx="1383900" cy="1383900"/>
          </a:xfrm>
          <a:prstGeom prst="ellipse">
            <a:avLst/>
          </a:prstGeom>
          <a:noFill/>
          <a:ln w="19050" cap="flat" cmpd="sng">
            <a:solidFill>
              <a:srgbClr val="9FC5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s-MX" noProof="1"/>
          </a:p>
        </p:txBody>
      </p:sp>
      <p:pic>
        <p:nvPicPr>
          <p:cNvPr id="7" name="Picture 2" descr="mTLS Explained | Beeceptor">
            <a:extLst>
              <a:ext uri="{FF2B5EF4-FFF2-40B4-BE49-F238E27FC236}">
                <a16:creationId xmlns:a16="http://schemas.microsoft.com/office/drawing/2014/main" id="{E1168098-891D-BA28-04B2-36B3A804702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53382" y="2213716"/>
            <a:ext cx="2196821" cy="12577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Imagen 2">
            <a:extLst>
              <a:ext uri="{FF2B5EF4-FFF2-40B4-BE49-F238E27FC236}">
                <a16:creationId xmlns:a16="http://schemas.microsoft.com/office/drawing/2014/main" id="{FB6414B7-BA4D-F00C-8DF3-332589A3C90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5637" y="978354"/>
            <a:ext cx="6701767" cy="37062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7863060"/>
      </p:ext>
    </p:extLst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15109</TotalTime>
  <Words>969</Words>
  <Application>Microsoft Macintosh PowerPoint</Application>
  <PresentationFormat>Presentación en pantalla (16:9)</PresentationFormat>
  <Paragraphs>112</Paragraphs>
  <Slides>14</Slides>
  <Notes>14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2</vt:i4>
      </vt:variant>
      <vt:variant>
        <vt:lpstr>Títulos de diapositiva</vt:lpstr>
      </vt:variant>
      <vt:variant>
        <vt:i4>14</vt:i4>
      </vt:variant>
    </vt:vector>
  </HeadingPairs>
  <TitlesOfParts>
    <vt:vector size="21" baseType="lpstr">
      <vt:lpstr>Barlow Medium</vt:lpstr>
      <vt:lpstr>Arial</vt:lpstr>
      <vt:lpstr>Barlow ExtraLight</vt:lpstr>
      <vt:lpstr>Barlow ExtraBold</vt:lpstr>
      <vt:lpstr>Barlow</vt:lpstr>
      <vt:lpstr>Simple Light</vt:lpstr>
      <vt:lpstr>Simple Light</vt:lpstr>
      <vt:lpstr>SSL/TLS MTLS HTTPS EN MICROSERVICIOS Tema.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PROYECTOS CERRADOS</dc:title>
  <cp:lastModifiedBy>CHRISTIAN HERNANDEZ  ALTAMIRANO</cp:lastModifiedBy>
  <cp:revision>330</cp:revision>
  <dcterms:modified xsi:type="dcterms:W3CDTF">2026-05-12T03:11:10Z</dcterms:modified>
</cp:coreProperties>
</file>