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9"/>
  </p:notesMasterIdLst>
  <p:sldIdLst>
    <p:sldId id="256" r:id="rId3"/>
    <p:sldId id="263" r:id="rId4"/>
    <p:sldId id="341" r:id="rId5"/>
    <p:sldId id="342" r:id="rId6"/>
    <p:sldId id="346" r:id="rId7"/>
    <p:sldId id="352" r:id="rId8"/>
    <p:sldId id="347" r:id="rId9"/>
    <p:sldId id="348" r:id="rId10"/>
    <p:sldId id="349" r:id="rId11"/>
    <p:sldId id="350" r:id="rId12"/>
    <p:sldId id="355" r:id="rId13"/>
    <p:sldId id="356" r:id="rId14"/>
    <p:sldId id="357" r:id="rId15"/>
    <p:sldId id="358" r:id="rId16"/>
    <p:sldId id="351" r:id="rId17"/>
    <p:sldId id="293" r:id="rId18"/>
  </p:sldIdLst>
  <p:sldSz cx="9144000" cy="5143500" type="screen16x9"/>
  <p:notesSz cx="6858000" cy="9144000"/>
  <p:embeddedFontLst>
    <p:embeddedFont>
      <p:font typeface="Barlow" pitchFamily="2" charset="77"/>
      <p:regular r:id="rId20"/>
      <p:bold r:id="rId21"/>
      <p:italic r:id="rId22"/>
      <p:boldItalic r:id="rId23"/>
    </p:embeddedFont>
    <p:embeddedFont>
      <p:font typeface="Barlow ExtraBold" panose="00000900000000000000" pitchFamily="2" charset="77"/>
      <p:bold r:id="rId24"/>
      <p:italic r:id="rId25"/>
      <p:boldItalic r:id="rId26"/>
    </p:embeddedFont>
    <p:embeddedFont>
      <p:font typeface="Barlow ExtraLight" panose="00000300000000000000" pitchFamily="2" charset="77"/>
      <p:regular r:id="rId27"/>
      <p:bold r:id="rId28"/>
      <p:italic r:id="rId29"/>
      <p:boldItalic r:id="rId30"/>
    </p:embeddedFont>
    <p:embeddedFont>
      <p:font typeface="Barlow Medium" panose="00000600000000000000" pitchFamily="2" charset="77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9"/>
    <p:restoredTop sz="94656"/>
  </p:normalViewPr>
  <p:slideViewPr>
    <p:cSldViewPr snapToGrid="0">
      <p:cViewPr varScale="1">
        <p:scale>
          <a:sx n="149" d="100"/>
          <a:sy n="149" d="100"/>
        </p:scale>
        <p:origin x="320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a4d04bd8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101" name="Google Shape;101;g2a4d04bd85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6B753D9-1AA0-CD1B-90B9-60639C6A6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84CC5BED-FB6C-ED0B-EBAD-998A46B27D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2294BFC0-7E22-940D-8257-EFFACFEA08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6604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F59FAB54-2DD7-941A-1423-9C0DDCEA8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381B8C14-5D4A-0CA1-8DCD-8F51C02BD3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8716FEA4-835A-BF2C-43B2-56D3E80087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9510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F57D1B10-2912-4BC2-360E-B1DA82779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12B14A09-9E8D-8829-2953-7922FD770E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AF88A8EB-126D-73A9-A294-2F55FFB54E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0544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524F0A97-516E-BD7F-7CE4-9F8BD1352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C6985E70-5A6E-51D6-E58A-DDE7D646C7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FAFCFDB0-6B48-B0D7-D3EF-11BA236F2C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1010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6F0DC559-A98A-1223-8673-97D68DAB7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8C1C2BF0-DD00-B0C3-F6E0-757B6EC6D5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42527E37-5184-D293-76E7-F16F35EBA2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094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0A7C590-00FD-153D-1695-960A6DCA0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08BDDAED-540E-54F4-9783-73E8D90586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26BFA308-F820-95A6-61E0-50C4FA9A04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4649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C843864-8EB5-DE58-B8A0-FB313278E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25D2EDCC-AF2B-8865-9303-6DF634AD8D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4C3BAB50-0F0D-E46B-E820-6D6A7C61D7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50737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5FA183C8-4FC4-BED9-F65C-26BD2549D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82C45F29-6DEA-6428-E9B3-D740A4C5BB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37DB619E-E29E-356A-596A-A796BF88CF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91665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3B040262-1B5B-31A8-91AF-A7D63D631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9D2F8163-BBEE-6EB6-9D29-693288C5F7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BC38E2BB-2E12-22F1-FAF1-D3F508256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29865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DB3FC81D-B13B-AD58-0192-CA9607DC9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6EACF9BC-9F1F-2098-BDAB-8C23CBED85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C36C4D98-6492-400E-1DC1-F8B1940D28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10590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D3E1F163-6C5C-9DC1-007A-259117D84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CB2F7849-102D-3F52-5022-D710898257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02B03895-B76D-42F8-26B5-833C02BD46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70872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F8EBE3E-68E7-01EB-FFDD-B31F9E131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2FC99EDA-F61F-61FD-C00A-73851223F8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56D7AE5B-9AEF-FEB0-FCA7-868310D400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97686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5404E536-054D-649A-7AF6-D4A8EA0C4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F5B22FFE-5E52-2209-3E5E-C9D0D7E0BC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479AD7E1-D5AC-D488-92FD-80F357B52B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66122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094E7478-539A-2376-C913-D5C3A184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4b7121ab1_1_82:notes">
            <a:extLst>
              <a:ext uri="{FF2B5EF4-FFF2-40B4-BE49-F238E27FC236}">
                <a16:creationId xmlns:a16="http://schemas.microsoft.com/office/drawing/2014/main" id="{CAF7CB0F-4FF5-1CA0-F530-A871B26892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MX"/>
          </a:p>
        </p:txBody>
      </p:sp>
      <p:sp>
        <p:nvSpPr>
          <p:cNvPr id="84" name="Google Shape;84;g2a4b7121ab1_1_82:notes">
            <a:extLst>
              <a:ext uri="{FF2B5EF4-FFF2-40B4-BE49-F238E27FC236}">
                <a16:creationId xmlns:a16="http://schemas.microsoft.com/office/drawing/2014/main" id="{FAE4494E-5617-4157-12AB-1325918BA7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3072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174801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Barlow ExtraBold"/>
              <a:buNone/>
              <a:defRPr sz="5200">
                <a:solidFill>
                  <a:schemeClr val="lt1"/>
                </a:solidFill>
                <a:latin typeface="Barlow ExtraBold"/>
                <a:ea typeface="Barlow ExtraBold"/>
                <a:cs typeface="Barlow ExtraBold"/>
                <a:sym typeface="Barlow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1618800" y="1567425"/>
            <a:ext cx="5906400" cy="5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cxnSp>
        <p:nvCxnSpPr>
          <p:cNvPr id="58" name="Google Shape;58;p14"/>
          <p:cNvCxnSpPr/>
          <p:nvPr/>
        </p:nvCxnSpPr>
        <p:spPr>
          <a:xfrm>
            <a:off x="559825" y="4144350"/>
            <a:ext cx="7985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" name="Google Shape;59;p14"/>
          <p:cNvSpPr txBox="1"/>
          <p:nvPr/>
        </p:nvSpPr>
        <p:spPr>
          <a:xfrm rot="-5400000">
            <a:off x="-922500" y="922488"/>
            <a:ext cx="22083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lt1"/>
                </a:solidFill>
                <a:latin typeface="Barlow ExtraLight"/>
                <a:ea typeface="Barlow ExtraLight"/>
                <a:cs typeface="Barlow ExtraLight"/>
                <a:sym typeface="Barlow ExtraLight"/>
              </a:rPr>
              <a:t>www.asteci-digital-factory.com.mx</a:t>
            </a:r>
            <a:endParaRPr sz="1000">
              <a:solidFill>
                <a:schemeClr val="lt1"/>
              </a:solidFill>
              <a:latin typeface="Barlow ExtraLight"/>
              <a:ea typeface="Barlow ExtraLight"/>
              <a:cs typeface="Barlow ExtraLight"/>
              <a:sym typeface="Barlow Extra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" name="Google Shape;95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4296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  <p:sldLayoutId id="2147483663" r:id="rId4"/>
    <p:sldLayoutId id="2147483664" r:id="rId5"/>
    <p:sldLayoutId id="2147483666" r:id="rId6"/>
    <p:sldLayoutId id="2147483668" r:id="rId7"/>
    <p:sldLayoutId id="214748367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/>
          <p:nvPr/>
        </p:nvSpPr>
        <p:spPr>
          <a:xfrm rot="10800000">
            <a:off x="0" y="3872125"/>
            <a:ext cx="9144000" cy="1314900"/>
          </a:xfrm>
          <a:prstGeom prst="rect">
            <a:avLst/>
          </a:prstGeom>
          <a:gradFill>
            <a:gsLst>
              <a:gs pos="0">
                <a:srgbClr val="0B5394">
                  <a:alpha val="79607"/>
                </a:srgbClr>
              </a:gs>
              <a:gs pos="100000">
                <a:srgbClr val="213184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106" name="Google Shape;106;p25"/>
          <p:cNvSpPr txBox="1">
            <a:spLocks noGrp="1"/>
          </p:cNvSpPr>
          <p:nvPr>
            <p:ph type="ctrTitle"/>
          </p:nvPr>
        </p:nvSpPr>
        <p:spPr>
          <a:xfrm>
            <a:off x="2360286" y="1497365"/>
            <a:ext cx="4829828" cy="17285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SzPts val="990"/>
            </a:pPr>
            <a:r>
              <a:rPr lang="es-MX" sz="4800" noProof="1">
                <a:solidFill>
                  <a:schemeClr val="lt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HTTPS - MTLS SPRINGBOOT</a:t>
            </a:r>
            <a:br>
              <a:rPr lang="es-MX" sz="1200" noProof="1">
                <a:solidFill>
                  <a:schemeClr val="lt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</a:br>
            <a:r>
              <a:rPr lang="es-MX" sz="1200" noProof="1">
                <a:solidFill>
                  <a:schemeClr val="lt1"/>
                </a:solidFill>
                <a:latin typeface="Barlow ExtraBold"/>
                <a:ea typeface="Barlow ExtraBold"/>
                <a:cs typeface="Barlow ExtraBold"/>
                <a:sym typeface="Barlow ExtraBold"/>
              </a:rPr>
              <a:t>Ejemplo.</a:t>
            </a:r>
          </a:p>
        </p:txBody>
      </p:sp>
      <p:pic>
        <p:nvPicPr>
          <p:cNvPr id="107" name="Google Shape;10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000" y="4262775"/>
            <a:ext cx="1349673" cy="7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5206662" y="1102925"/>
            <a:ext cx="3581700" cy="3581700"/>
          </a:xfrm>
          <a:prstGeom prst="ellipse">
            <a:avLst/>
          </a:prstGeom>
          <a:noFill/>
          <a:ln w="19050" cap="flat" cmpd="sng">
            <a:solidFill>
              <a:srgbClr val="F0F8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1"/>
              <a:t>          </a:t>
            </a:r>
          </a:p>
        </p:txBody>
      </p:sp>
      <p:sp>
        <p:nvSpPr>
          <p:cNvPr id="88" name="Google Shape;88;p16"/>
          <p:cNvSpPr/>
          <p:nvPr/>
        </p:nvSpPr>
        <p:spPr>
          <a:xfrm>
            <a:off x="6765064" y="1936932"/>
            <a:ext cx="1383900" cy="1383900"/>
          </a:xfrm>
          <a:prstGeom prst="ellipse">
            <a:avLst/>
          </a:prstGeom>
          <a:noFill/>
          <a:ln w="1905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89" name="Google Shape;89;p16"/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/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/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117" name="Google Shape;117;p16"/>
          <p:cNvSpPr txBox="1"/>
          <p:nvPr/>
        </p:nvSpPr>
        <p:spPr>
          <a:xfrm>
            <a:off x="268376" y="1144320"/>
            <a:ext cx="6116265" cy="129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s-MX" sz="1450" noProof="1">
                <a:solidFill>
                  <a:srgbClr val="666666"/>
                </a:solidFill>
                <a:latin typeface="Barlow"/>
              </a:rPr>
              <a:t>Crear el proyecto desde la pagina Spring Initializer y buscar las dependencias “Spring web, spring data, lombok etc</a:t>
            </a: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/>
              </a:rPr>
              <a:t>En Language, selecciona Java.</a:t>
            </a: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/>
              </a:rPr>
              <a:t>En Build system, elige Gradle-Groovy. Haz clic en Create.</a:t>
            </a:r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3F571FB8-BA30-15A1-23D5-C3FAD67372C9}"/>
              </a:ext>
            </a:extLst>
          </p:cNvPr>
          <p:cNvSpPr txBox="1">
            <a:spLocks/>
          </p:cNvSpPr>
          <p:nvPr/>
        </p:nvSpPr>
        <p:spPr>
          <a:xfrm>
            <a:off x="291308" y="247975"/>
            <a:ext cx="3614648" cy="85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CREACION Y USO DE 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PROYECTO JAVA</a:t>
            </a:r>
          </a:p>
        </p:txBody>
      </p:sp>
      <p:pic>
        <p:nvPicPr>
          <p:cNvPr id="3" name="Picture 4" descr="Spring Framework Logo Svg , Png Download - Java Spring - (504x362) Png ...">
            <a:extLst>
              <a:ext uri="{FF2B5EF4-FFF2-40B4-BE49-F238E27FC236}">
                <a16:creationId xmlns:a16="http://schemas.microsoft.com/office/drawing/2014/main" id="{471FE16E-6807-585E-75B8-15602F886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8025" y="2302016"/>
            <a:ext cx="910167" cy="65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2E0E4B6-F39B-922D-3188-F849C7705C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609" y="2248390"/>
            <a:ext cx="5561306" cy="28951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60F85AFE-CEA7-C872-07A5-A1B11BCE0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FB17BFBC-248E-94DD-7845-666B5B7765FF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486939EB-FA52-4BC0-D74D-BB98F902A74B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27C71B3B-AB5F-4083-C501-074834CA3B86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C5BD99F2-044F-27AA-EB13-9D8B05FCD02E}"/>
              </a:ext>
            </a:extLst>
          </p:cNvPr>
          <p:cNvSpPr txBox="1">
            <a:spLocks/>
          </p:cNvSpPr>
          <p:nvPr/>
        </p:nvSpPr>
        <p:spPr>
          <a:xfrm>
            <a:off x="291308" y="212620"/>
            <a:ext cx="8006025" cy="56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CREACION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CODIGO DE EJEMPLO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1B7A1E3-0F76-C7F6-9D66-17EF482A2CEA}"/>
              </a:ext>
            </a:extLst>
          </p:cNvPr>
          <p:cNvSpPr txBox="1"/>
          <p:nvPr/>
        </p:nvSpPr>
        <p:spPr>
          <a:xfrm>
            <a:off x="302468" y="920653"/>
            <a:ext cx="7282557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noProof="1">
                <a:solidFill>
                  <a:srgbClr val="666666"/>
                </a:solidFill>
                <a:latin typeface="Barlow"/>
              </a:rPr>
              <a:t>Lo primero será crear una CA raíz local. Esta CA servirá para firmar los demás certificados y permitirá que los servicios validen si un certificado es confiable, comprobando que fue firmado por esta CA y que la CA está registrada como confiable en su truststore.</a:t>
            </a:r>
          </a:p>
          <a:p>
            <a:pPr algn="just"/>
            <a:endParaRPr lang="es-MX" noProof="1">
              <a:solidFill>
                <a:srgbClr val="666666"/>
              </a:solidFill>
              <a:latin typeface="Barlow"/>
            </a:endParaRPr>
          </a:p>
          <a:p>
            <a:pPr algn="just"/>
            <a:r>
              <a:rPr lang="es-MX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keytool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-</a:t>
            </a:r>
            <a:r>
              <a:rPr lang="es-MX" noProof="1">
                <a:solidFill>
                  <a:srgbClr val="FF0000"/>
                </a:solidFill>
                <a:latin typeface="Barlow"/>
              </a:rPr>
              <a:t>genkeypair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-</a:t>
            </a:r>
            <a:r>
              <a:rPr lang="es-MX" noProof="1">
                <a:solidFill>
                  <a:srgbClr val="FF0000"/>
                </a:solidFill>
                <a:latin typeface="Barlow"/>
              </a:rPr>
              <a:t>alias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"mtls-ca" \</a:t>
            </a:r>
          </a:p>
          <a:p>
            <a:pPr algn="just"/>
            <a:r>
              <a:rPr lang="es-MX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s-MX" noProof="1">
                <a:solidFill>
                  <a:srgbClr val="FF0000"/>
                </a:solidFill>
                <a:latin typeface="Barlow"/>
              </a:rPr>
              <a:t>keyalg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"RSA" -</a:t>
            </a:r>
            <a:r>
              <a:rPr lang="es-MX" noProof="1">
                <a:solidFill>
                  <a:srgbClr val="FF0000"/>
                </a:solidFill>
                <a:latin typeface="Barlow"/>
              </a:rPr>
              <a:t>keysize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4096 -</a:t>
            </a:r>
            <a:r>
              <a:rPr lang="es-MX" noProof="1">
                <a:solidFill>
                  <a:srgbClr val="FF0000"/>
                </a:solidFill>
                <a:latin typeface="Barlow"/>
              </a:rPr>
              <a:t>sigalg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"SHA256withRSA" \</a:t>
            </a:r>
          </a:p>
          <a:p>
            <a:pPr algn="just"/>
            <a:r>
              <a:rPr lang="es-MX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s-MX" noProof="1">
                <a:solidFill>
                  <a:srgbClr val="FF0000"/>
                </a:solidFill>
                <a:latin typeface="Barlow"/>
              </a:rPr>
              <a:t>validity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3650 \</a:t>
            </a:r>
          </a:p>
          <a:p>
            <a:pPr algn="just"/>
            <a:r>
              <a:rPr lang="es-MX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s-MX" noProof="1">
                <a:solidFill>
                  <a:srgbClr val="FF0000"/>
                </a:solidFill>
                <a:latin typeface="Barlow"/>
              </a:rPr>
              <a:t>dname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"CN=mTLS-Local-CA, O=nextgen, C=MX" \</a:t>
            </a:r>
          </a:p>
          <a:p>
            <a:pPr algn="just"/>
            <a:r>
              <a:rPr lang="es-MX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s-MX" noProof="1">
                <a:solidFill>
                  <a:srgbClr val="FF0000"/>
                </a:solidFill>
                <a:latin typeface="Barlow"/>
              </a:rPr>
              <a:t>ext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"bc:c" \</a:t>
            </a:r>
          </a:p>
          <a:p>
            <a:pPr algn="just"/>
            <a:r>
              <a:rPr lang="es-MX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s-MX" noProof="1">
                <a:solidFill>
                  <a:srgbClr val="FF0000"/>
                </a:solidFill>
                <a:latin typeface="Barlow"/>
              </a:rPr>
              <a:t>keystore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"ca.p12" -</a:t>
            </a:r>
            <a:r>
              <a:rPr lang="es-MX" noProof="1">
                <a:solidFill>
                  <a:srgbClr val="FF0000"/>
                </a:solidFill>
                <a:latin typeface="Barlow"/>
              </a:rPr>
              <a:t>storetype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PKCS12 \</a:t>
            </a:r>
          </a:p>
          <a:p>
            <a:pPr algn="just"/>
            <a:r>
              <a:rPr lang="es-MX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s-MX" noProof="1">
                <a:solidFill>
                  <a:srgbClr val="FF0000"/>
                </a:solidFill>
                <a:latin typeface="Barlow"/>
              </a:rPr>
              <a:t>storepass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"changeit" -</a:t>
            </a:r>
            <a:r>
              <a:rPr lang="es-MX" noProof="1">
                <a:solidFill>
                  <a:srgbClr val="FF0000"/>
                </a:solidFill>
                <a:latin typeface="Barlow"/>
              </a:rPr>
              <a:t>keypass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"changeit”</a:t>
            </a:r>
          </a:p>
          <a:p>
            <a:pPr algn="just"/>
            <a:endParaRPr lang="es-MX" noProof="1">
              <a:solidFill>
                <a:srgbClr val="666666"/>
              </a:solidFill>
              <a:latin typeface="Barlow"/>
            </a:endParaRPr>
          </a:p>
          <a:p>
            <a:pPr algn="just"/>
            <a:r>
              <a:rPr lang="es-MX" noProof="1">
                <a:solidFill>
                  <a:srgbClr val="666666"/>
                </a:solidFill>
                <a:latin typeface="Barlow"/>
              </a:rPr>
              <a:t>Despues se exporta ca.crt para obtener la parte pública de la CA. Este archivo se usa en truststores, para confiar en los certificados firmados por la CA local y asi la clave privada permanece protegida dentro de ca.p12.</a:t>
            </a:r>
          </a:p>
          <a:p>
            <a:pPr algn="just"/>
            <a:endParaRPr lang="es-MX" noProof="1">
              <a:solidFill>
                <a:srgbClr val="666666"/>
              </a:solidFill>
              <a:latin typeface="Barlow"/>
            </a:endParaRPr>
          </a:p>
          <a:p>
            <a:pPr algn="just"/>
            <a:r>
              <a:rPr lang="es-MX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keytool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-</a:t>
            </a:r>
            <a:r>
              <a:rPr lang="es-MX" noProof="1">
                <a:solidFill>
                  <a:srgbClr val="FF0000"/>
                </a:solidFill>
                <a:latin typeface="Barlow"/>
              </a:rPr>
              <a:t>exportcert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-</a:t>
            </a:r>
            <a:r>
              <a:rPr lang="es-MX" noProof="1">
                <a:solidFill>
                  <a:srgbClr val="FF0000"/>
                </a:solidFill>
                <a:latin typeface="Barlow"/>
              </a:rPr>
              <a:t>alias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mtls-ca -rfc \</a:t>
            </a:r>
          </a:p>
          <a:p>
            <a:pPr algn="just"/>
            <a:r>
              <a:rPr lang="es-MX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s-MX" noProof="1">
                <a:solidFill>
                  <a:srgbClr val="FF0000"/>
                </a:solidFill>
                <a:latin typeface="Barlow"/>
              </a:rPr>
              <a:t>keystore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ca.p12 -</a:t>
            </a:r>
            <a:r>
              <a:rPr lang="es-MX" noProof="1">
                <a:solidFill>
                  <a:srgbClr val="FF0000"/>
                </a:solidFill>
                <a:latin typeface="Barlow"/>
              </a:rPr>
              <a:t>storepass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changeit \</a:t>
            </a:r>
          </a:p>
          <a:p>
            <a:pPr algn="just"/>
            <a:r>
              <a:rPr lang="es-MX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s-MX" noProof="1">
                <a:solidFill>
                  <a:srgbClr val="FF0000"/>
                </a:solidFill>
                <a:latin typeface="Barlow"/>
              </a:rPr>
              <a:t>file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ca.crt</a:t>
            </a:r>
          </a:p>
        </p:txBody>
      </p:sp>
    </p:spTree>
    <p:extLst>
      <p:ext uri="{BB962C8B-B14F-4D97-AF65-F5344CB8AC3E}">
        <p14:creationId xmlns:p14="http://schemas.microsoft.com/office/powerpoint/2010/main" val="1313713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5651C321-48C9-012B-302C-86A2D17E4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AA203044-D1C5-B888-468F-4F8B8703EADD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BB9C79A7-4476-9085-4AA6-766A29D65D26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C7FE3807-9F2B-E982-C137-190EF86EF992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9D8757EA-CB18-182B-5FDF-5106382F6B3A}"/>
              </a:ext>
            </a:extLst>
          </p:cNvPr>
          <p:cNvSpPr txBox="1">
            <a:spLocks/>
          </p:cNvSpPr>
          <p:nvPr/>
        </p:nvSpPr>
        <p:spPr>
          <a:xfrm>
            <a:off x="291308" y="212620"/>
            <a:ext cx="8152781" cy="56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CREACION DEL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CODIGO DE EJEMPLO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A069C33-FE24-D354-5F03-333E273A8C7E}"/>
              </a:ext>
            </a:extLst>
          </p:cNvPr>
          <p:cNvSpPr txBox="1"/>
          <p:nvPr/>
        </p:nvSpPr>
        <p:spPr>
          <a:xfrm>
            <a:off x="291308" y="814827"/>
            <a:ext cx="84510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Después de crear la CA raíz local, se genera el keystore del Provider. Este archivo contiene la clave privada y una identidad inicial del microservicio servidor. Más adelante se generará un CSR a partir de este keystore para que la CA local firme el certificado del Provider. El SAN incluye localhost y 127.0.0.1 porque el servicio se probará localmente usando esas direcciones.</a:t>
            </a:r>
          </a:p>
          <a:p>
            <a:pPr algn="just"/>
            <a:endParaRPr lang="en-US" noProof="1">
              <a:solidFill>
                <a:srgbClr val="666666"/>
              </a:solidFill>
              <a:latin typeface="Barlow"/>
            </a:endParaRPr>
          </a:p>
          <a:p>
            <a:pPr algn="just"/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keytool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genkeypair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alias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provider \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keyalg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RSA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keysize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2048 -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sigalg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SHA256withRSA \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validity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825 \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dname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"CN=provider-service, O=Capacitacion, C=MX" \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ext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"san=dns:localhost,ip:127.0.0.1" \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keystore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provider-keystore.p12 -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storetype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PKCS12 \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storepass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changeit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keypass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changeit</a:t>
            </a:r>
          </a:p>
        </p:txBody>
      </p:sp>
    </p:spTree>
    <p:extLst>
      <p:ext uri="{BB962C8B-B14F-4D97-AF65-F5344CB8AC3E}">
        <p14:creationId xmlns:p14="http://schemas.microsoft.com/office/powerpoint/2010/main" val="2467988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3C68C732-DFF1-7CAE-A24A-E08D8CE1A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9A66F61C-C36D-EA46-6958-95F53E2EF4E7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239DBCAA-C275-D6EB-BDF9-8B77D740F747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7373BF12-4948-03CF-D3A1-DBDDDB464846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D889918A-284F-C8B2-9299-891AB774665A}"/>
              </a:ext>
            </a:extLst>
          </p:cNvPr>
          <p:cNvSpPr txBox="1">
            <a:spLocks/>
          </p:cNvSpPr>
          <p:nvPr/>
        </p:nvSpPr>
        <p:spPr>
          <a:xfrm>
            <a:off x="291308" y="212620"/>
            <a:ext cx="8152781" cy="56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CREACION DEL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CODIGO DE EJEMPLO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2B3E38-CD2A-C1F8-0817-0DC487733306}"/>
              </a:ext>
            </a:extLst>
          </p:cNvPr>
          <p:cNvSpPr txBox="1"/>
          <p:nvPr/>
        </p:nvSpPr>
        <p:spPr>
          <a:xfrm>
            <a:off x="291308" y="847317"/>
            <a:ext cx="84254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Después de crear el keystore del Provider, se genera un CSR. El CSR es una solicitud de firma que contiene los datos del Provider y su clave pública, pero no contiene la clave privada. Este archivo se envía a la CA para que genere un certificado firmado. la CA local mTLS-Local-CA será quien firme el CSR.</a:t>
            </a:r>
          </a:p>
          <a:p>
            <a:pPr algn="just"/>
            <a:endParaRPr lang="en-US" noProof="1">
              <a:solidFill>
                <a:srgbClr val="666666"/>
              </a:solidFill>
              <a:latin typeface="Barlow"/>
            </a:endParaRPr>
          </a:p>
          <a:p>
            <a:pPr algn="just"/>
            <a:r>
              <a:rPr lang="es-MX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keytool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-</a:t>
            </a:r>
            <a:r>
              <a:rPr lang="es-MX" noProof="1">
                <a:solidFill>
                  <a:srgbClr val="FF0000"/>
                </a:solidFill>
                <a:latin typeface="Barlow"/>
              </a:rPr>
              <a:t>certreq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-</a:t>
            </a:r>
            <a:r>
              <a:rPr lang="es-MX" noProof="1">
                <a:solidFill>
                  <a:srgbClr val="FF0000"/>
                </a:solidFill>
                <a:latin typeface="Barlow"/>
              </a:rPr>
              <a:t>alias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provider \</a:t>
            </a:r>
          </a:p>
          <a:p>
            <a:pPr algn="just"/>
            <a:r>
              <a:rPr lang="es-MX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s-MX" noProof="1">
                <a:solidFill>
                  <a:srgbClr val="FF0000"/>
                </a:solidFill>
                <a:latin typeface="Barlow"/>
              </a:rPr>
              <a:t>keystore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provider-keystore.p12 -</a:t>
            </a:r>
            <a:r>
              <a:rPr lang="es-MX" noProof="1">
                <a:solidFill>
                  <a:srgbClr val="FF0000"/>
                </a:solidFill>
                <a:latin typeface="Barlow"/>
              </a:rPr>
              <a:t>storepass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changeit \</a:t>
            </a:r>
          </a:p>
          <a:p>
            <a:pPr algn="just"/>
            <a:r>
              <a:rPr lang="es-MX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s-MX" noProof="1">
                <a:solidFill>
                  <a:srgbClr val="FF0000"/>
                </a:solidFill>
                <a:latin typeface="Barlow"/>
              </a:rPr>
              <a:t>ext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"san=dns:localhost,ip:127.0.0.1" \</a:t>
            </a:r>
          </a:p>
          <a:p>
            <a:pPr algn="just"/>
            <a:r>
              <a:rPr lang="es-MX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s-MX" noProof="1">
                <a:solidFill>
                  <a:srgbClr val="FF0000"/>
                </a:solidFill>
                <a:latin typeface="Barlow"/>
              </a:rPr>
              <a:t>file</a:t>
            </a:r>
            <a:r>
              <a:rPr lang="es-MX" noProof="1">
                <a:solidFill>
                  <a:srgbClr val="666666"/>
                </a:solidFill>
                <a:latin typeface="Barlow"/>
              </a:rPr>
              <a:t> provider.csr</a:t>
            </a:r>
          </a:p>
        </p:txBody>
      </p:sp>
    </p:spTree>
    <p:extLst>
      <p:ext uri="{BB962C8B-B14F-4D97-AF65-F5344CB8AC3E}">
        <p14:creationId xmlns:p14="http://schemas.microsoft.com/office/powerpoint/2010/main" val="2680738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7DA304E3-34A6-E33A-6FFE-5D7C79150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0EEDC6F3-CE52-563C-8E5D-DF3F0F3FFB4D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43F96081-C46F-E538-0F56-162D97CC4406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3ED1094F-2ECE-8CDB-B8F6-21FC2E3BE16B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F95559ED-8533-3D55-78B9-840195FDA72B}"/>
              </a:ext>
            </a:extLst>
          </p:cNvPr>
          <p:cNvSpPr txBox="1">
            <a:spLocks/>
          </p:cNvSpPr>
          <p:nvPr/>
        </p:nvSpPr>
        <p:spPr>
          <a:xfrm>
            <a:off x="291308" y="212620"/>
            <a:ext cx="8152781" cy="56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CREACION DEL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CODIGO DE EJEMPLO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08FCCB3-A170-8E18-1EDB-40B194186E72}"/>
              </a:ext>
            </a:extLst>
          </p:cNvPr>
          <p:cNvSpPr txBox="1"/>
          <p:nvPr/>
        </p:nvSpPr>
        <p:spPr>
          <a:xfrm>
            <a:off x="291308" y="847317"/>
            <a:ext cx="789071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Este paso firma el CSR del Provider con la CA local y genera provider.crt. Ese certificado será importado de regreso al provider-keystore.p12 para que Spring Boot pueda usarlo como identidad del servidor HTTPS/mTLS.</a:t>
            </a:r>
          </a:p>
          <a:p>
            <a:pPr algn="just"/>
            <a:endParaRPr lang="en-US" noProof="1">
              <a:solidFill>
                <a:srgbClr val="666666"/>
              </a:solidFill>
              <a:latin typeface="Barlow"/>
            </a:endParaRP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keytool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gencert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alias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mtls-ca \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keystore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ca.p12 -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storepass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changeit \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infile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provider.csr -outfile provider.crt \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validity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825 \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ext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"san=dns:localhost,ip:127.0.0.1" \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ext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"ku=digitalSignature,keyEncipherment" \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ext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"eku=serverAuth,clientAuth" \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rfc</a:t>
            </a:r>
          </a:p>
        </p:txBody>
      </p:sp>
    </p:spTree>
    <p:extLst>
      <p:ext uri="{BB962C8B-B14F-4D97-AF65-F5344CB8AC3E}">
        <p14:creationId xmlns:p14="http://schemas.microsoft.com/office/powerpoint/2010/main" val="2835449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FA47933D-0E8C-A849-0920-9E8EB4587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35EC25C8-D08B-86FC-14E4-BE9D5B6DD5FD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D7C69D21-5622-1AE4-F2CD-3E97D0EDDA28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E844022D-D88C-2504-6C37-45DCA0D616EC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FA8FC96A-EA04-1C2C-5E7E-9D9721585DB2}"/>
              </a:ext>
            </a:extLst>
          </p:cNvPr>
          <p:cNvSpPr txBox="1">
            <a:spLocks/>
          </p:cNvSpPr>
          <p:nvPr/>
        </p:nvSpPr>
        <p:spPr>
          <a:xfrm>
            <a:off x="291308" y="212620"/>
            <a:ext cx="8152781" cy="56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CREACION DEL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CODIGO DE EJEMPLO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73D7D0F-CA1D-56EC-2950-A50A5E51A6BF}"/>
              </a:ext>
            </a:extLst>
          </p:cNvPr>
          <p:cNvSpPr txBox="1"/>
          <p:nvPr/>
        </p:nvSpPr>
        <p:spPr>
          <a:xfrm>
            <a:off x="291308" y="847317"/>
            <a:ext cx="7972159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Importar la CA primero en el keystore del provider</a:t>
            </a:r>
          </a:p>
          <a:p>
            <a:pPr algn="just"/>
            <a:endParaRPr lang="en-US" noProof="1">
              <a:solidFill>
                <a:srgbClr val="666666"/>
              </a:solidFill>
              <a:latin typeface="Barlow"/>
            </a:endParaRP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Se importa ca.crt en el provider-keystore.p12 para que el keystore conozca la CA que firmó el certificado del Provider y pueda construir correctamente la cadena de certificados.</a:t>
            </a:r>
          </a:p>
          <a:p>
            <a:pPr algn="just"/>
            <a:endParaRPr lang="en-US" sz="1450" noProof="1">
              <a:solidFill>
                <a:srgbClr val="666666"/>
              </a:solidFill>
              <a:latin typeface="Barlow"/>
            </a:endParaRPr>
          </a:p>
          <a:p>
            <a:pPr algn="just"/>
            <a:r>
              <a:rPr lang="en-US" sz="1450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keytool</a:t>
            </a:r>
            <a:r>
              <a:rPr lang="en-US" sz="1450" noProof="1">
                <a:solidFill>
                  <a:srgbClr val="666666"/>
                </a:solidFill>
                <a:latin typeface="Barlow"/>
              </a:rPr>
              <a:t> -</a:t>
            </a:r>
            <a:r>
              <a:rPr lang="en-US" sz="1450" noProof="1">
                <a:solidFill>
                  <a:srgbClr val="FF0000"/>
                </a:solidFill>
                <a:latin typeface="Barlow"/>
              </a:rPr>
              <a:t>importcert</a:t>
            </a:r>
            <a:r>
              <a:rPr lang="en-US" sz="1450" noProof="1">
                <a:solidFill>
                  <a:srgbClr val="666666"/>
                </a:solidFill>
                <a:latin typeface="Barlow"/>
              </a:rPr>
              <a:t> -</a:t>
            </a:r>
            <a:r>
              <a:rPr lang="en-US" sz="1450" noProof="1">
                <a:solidFill>
                  <a:srgbClr val="FF0000"/>
                </a:solidFill>
                <a:latin typeface="Barlow"/>
              </a:rPr>
              <a:t>alias</a:t>
            </a:r>
            <a:r>
              <a:rPr lang="en-US" sz="1450" noProof="1">
                <a:solidFill>
                  <a:srgbClr val="666666"/>
                </a:solidFill>
                <a:latin typeface="Barlow"/>
              </a:rPr>
              <a:t> mtls-ca -file ca.crt -</a:t>
            </a:r>
            <a:r>
              <a:rPr lang="en-US" sz="1450" noProof="1">
                <a:solidFill>
                  <a:srgbClr val="FF0000"/>
                </a:solidFill>
                <a:latin typeface="Barlow"/>
              </a:rPr>
              <a:t>noprompt</a:t>
            </a:r>
            <a:r>
              <a:rPr lang="en-US" sz="1450" noProof="1">
                <a:solidFill>
                  <a:srgbClr val="666666"/>
                </a:solidFill>
                <a:latin typeface="Barlow"/>
              </a:rPr>
              <a:t> \</a:t>
            </a:r>
          </a:p>
          <a:p>
            <a:pPr algn="just"/>
            <a:r>
              <a:rPr lang="en-US" sz="1450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sz="1450" noProof="1">
                <a:solidFill>
                  <a:srgbClr val="FF0000"/>
                </a:solidFill>
                <a:latin typeface="Barlow"/>
              </a:rPr>
              <a:t>keystore</a:t>
            </a:r>
            <a:r>
              <a:rPr lang="en-US" sz="1450" noProof="1">
                <a:solidFill>
                  <a:srgbClr val="666666"/>
                </a:solidFill>
                <a:latin typeface="Barlow"/>
              </a:rPr>
              <a:t> provider-keystore.p12 -</a:t>
            </a:r>
            <a:r>
              <a:rPr lang="en-US" sz="1450" noProof="1">
                <a:solidFill>
                  <a:srgbClr val="FF0000"/>
                </a:solidFill>
                <a:latin typeface="Barlow"/>
              </a:rPr>
              <a:t>storepass</a:t>
            </a:r>
            <a:r>
              <a:rPr lang="en-US" sz="1450" noProof="1">
                <a:solidFill>
                  <a:srgbClr val="666666"/>
                </a:solidFill>
                <a:latin typeface="Barlow"/>
              </a:rPr>
              <a:t> changeit</a:t>
            </a:r>
          </a:p>
          <a:p>
            <a:pPr algn="just"/>
            <a:endParaRPr lang="en-US" sz="1450" noProof="1">
              <a:solidFill>
                <a:srgbClr val="666666"/>
              </a:solidFill>
              <a:latin typeface="Barlow"/>
            </a:endParaRPr>
          </a:p>
          <a:p>
            <a:pPr algn="just"/>
            <a:r>
              <a:rPr lang="en-US" sz="1450" noProof="1">
                <a:solidFill>
                  <a:srgbClr val="666666"/>
                </a:solidFill>
                <a:latin typeface="Barlow"/>
              </a:rPr>
              <a:t>Importar el cert firmado del provider</a:t>
            </a:r>
          </a:p>
          <a:p>
            <a:pPr algn="just"/>
            <a:endParaRPr lang="en-US" sz="1450" noProof="1">
              <a:solidFill>
                <a:srgbClr val="666666"/>
              </a:solidFill>
              <a:latin typeface="Barlow"/>
            </a:endParaRPr>
          </a:p>
          <a:p>
            <a:pPr algn="just"/>
            <a:r>
              <a:rPr lang="en-US" sz="1450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keytool</a:t>
            </a:r>
            <a:r>
              <a:rPr lang="en-US" sz="1450" noProof="1">
                <a:solidFill>
                  <a:srgbClr val="666666"/>
                </a:solidFill>
                <a:latin typeface="Barlow"/>
              </a:rPr>
              <a:t> -</a:t>
            </a:r>
            <a:r>
              <a:rPr lang="en-US" sz="1450" noProof="1">
                <a:solidFill>
                  <a:srgbClr val="FF0000"/>
                </a:solidFill>
                <a:latin typeface="Barlow"/>
              </a:rPr>
              <a:t>importcert</a:t>
            </a:r>
            <a:r>
              <a:rPr lang="en-US" sz="1450" noProof="1">
                <a:solidFill>
                  <a:srgbClr val="666666"/>
                </a:solidFill>
                <a:latin typeface="Barlow"/>
              </a:rPr>
              <a:t> -</a:t>
            </a:r>
            <a:r>
              <a:rPr lang="en-US" sz="1450" noProof="1">
                <a:solidFill>
                  <a:srgbClr val="FF0000"/>
                </a:solidFill>
                <a:latin typeface="Barlow"/>
              </a:rPr>
              <a:t>alias</a:t>
            </a:r>
            <a:r>
              <a:rPr lang="en-US" sz="1450" noProof="1">
                <a:solidFill>
                  <a:srgbClr val="666666"/>
                </a:solidFill>
                <a:latin typeface="Barlow"/>
              </a:rPr>
              <a:t> provider -file provider.crt -</a:t>
            </a:r>
            <a:r>
              <a:rPr lang="en-US" sz="1450" noProof="1">
                <a:solidFill>
                  <a:srgbClr val="FF0000"/>
                </a:solidFill>
                <a:latin typeface="Barlow"/>
              </a:rPr>
              <a:t>noprompt</a:t>
            </a:r>
            <a:r>
              <a:rPr lang="en-US" sz="1450" noProof="1">
                <a:solidFill>
                  <a:srgbClr val="666666"/>
                </a:solidFill>
                <a:latin typeface="Barlow"/>
              </a:rPr>
              <a:t> \</a:t>
            </a:r>
          </a:p>
          <a:p>
            <a:pPr algn="just"/>
            <a:r>
              <a:rPr lang="en-US" sz="1450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sz="1450" noProof="1">
                <a:solidFill>
                  <a:srgbClr val="FF0000"/>
                </a:solidFill>
                <a:latin typeface="Barlow"/>
              </a:rPr>
              <a:t>keystore</a:t>
            </a:r>
            <a:r>
              <a:rPr lang="en-US" sz="1450" noProof="1">
                <a:solidFill>
                  <a:srgbClr val="666666"/>
                </a:solidFill>
                <a:latin typeface="Barlow"/>
              </a:rPr>
              <a:t> provider-keystore.p12 -</a:t>
            </a:r>
            <a:r>
              <a:rPr lang="en-US" sz="1450" noProof="1">
                <a:solidFill>
                  <a:srgbClr val="FF0000"/>
                </a:solidFill>
                <a:latin typeface="Barlow"/>
              </a:rPr>
              <a:t>storepass</a:t>
            </a:r>
            <a:r>
              <a:rPr lang="en-US" sz="1450" noProof="1">
                <a:solidFill>
                  <a:srgbClr val="666666"/>
                </a:solidFill>
                <a:latin typeface="Barlow"/>
              </a:rPr>
              <a:t> changeit</a:t>
            </a:r>
          </a:p>
        </p:txBody>
      </p:sp>
    </p:spTree>
    <p:extLst>
      <p:ext uri="{BB962C8B-B14F-4D97-AF65-F5344CB8AC3E}">
        <p14:creationId xmlns:p14="http://schemas.microsoft.com/office/powerpoint/2010/main" val="545593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1959A62B-1A85-7EA3-87AB-0BB96E952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2D7D6DB5-5B3B-F90E-2744-63B564D0E387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5076BA42-11EE-CD00-2D06-FA77A2B2C565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7329C3AF-9B13-0D52-28F7-49FCB3655654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A8C3FE2-261E-4F04-0F46-41C78FA27061}"/>
              </a:ext>
            </a:extLst>
          </p:cNvPr>
          <p:cNvSpPr txBox="1"/>
          <p:nvPr/>
        </p:nvSpPr>
        <p:spPr>
          <a:xfrm>
            <a:off x="291308" y="847317"/>
            <a:ext cx="8152781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Finalmente se verifica el contenido del provider-keystore.p12. El alias provider debe ser de tipo PrivateKeyEntry, tener una cadena de certificados de longitud 2 y mostrar como Issuer a mTLS-Local-CA. Esto confirma que el Provider ya tiene su clave privada y su certificado firmado por la CA local.</a:t>
            </a:r>
          </a:p>
          <a:p>
            <a:pPr algn="just"/>
            <a:endParaRPr lang="en-US" sz="1450" noProof="1">
              <a:solidFill>
                <a:srgbClr val="666666"/>
              </a:solidFill>
              <a:latin typeface="Barlow"/>
            </a:endParaRPr>
          </a:p>
          <a:p>
            <a:pPr algn="just"/>
            <a:r>
              <a:rPr lang="es-MX" sz="1450" noProof="1">
                <a:solidFill>
                  <a:schemeClr val="accent1">
                    <a:lumMod val="75000"/>
                  </a:schemeClr>
                </a:solidFill>
                <a:latin typeface="Barlow" pitchFamily="2" charset="77"/>
              </a:rPr>
              <a:t>keytool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-</a:t>
            </a:r>
            <a:r>
              <a:rPr lang="es-MX" sz="1450" noProof="1">
                <a:solidFill>
                  <a:srgbClr val="FF0000"/>
                </a:solidFill>
                <a:latin typeface="Barlow" pitchFamily="2" charset="77"/>
              </a:rPr>
              <a:t>list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-v -</a:t>
            </a:r>
            <a:r>
              <a:rPr lang="es-MX" sz="1450" noProof="1">
                <a:solidFill>
                  <a:srgbClr val="FF0000"/>
                </a:solidFill>
                <a:latin typeface="Barlow" pitchFamily="2" charset="77"/>
              </a:rPr>
              <a:t>keystore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provider-keystore.p12 -</a:t>
            </a:r>
            <a:r>
              <a:rPr lang="es-MX" sz="1450" noProof="1">
                <a:solidFill>
                  <a:srgbClr val="FF0000"/>
                </a:solidFill>
                <a:latin typeface="Barlow" pitchFamily="2" charset="77"/>
              </a:rPr>
              <a:t>storepass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changeit -</a:t>
            </a:r>
            <a:r>
              <a:rPr lang="es-MX" sz="1450" noProof="1">
                <a:solidFill>
                  <a:srgbClr val="FF0000"/>
                </a:solidFill>
                <a:latin typeface="Barlow" pitchFamily="2" charset="77"/>
              </a:rPr>
              <a:t>alias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provider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b="1" noProof="1">
                <a:solidFill>
                  <a:srgbClr val="666666"/>
                </a:solidFill>
                <a:latin typeface="Barlow" pitchFamily="2" charset="77"/>
              </a:rPr>
              <a:t>Crear el truststore del Provider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El provider-truststore.p12 contiene la CA local ca.crt. Gracias a esto, el Provider podrá confiar en cualquier cliente cuyo certificado haya sido firmado por dicha CA.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keytool -</a:t>
            </a:r>
            <a:r>
              <a:rPr lang="es-MX" sz="1450" noProof="1">
                <a:solidFill>
                  <a:srgbClr val="FF0000"/>
                </a:solidFill>
                <a:latin typeface="Barlow" pitchFamily="2" charset="77"/>
              </a:rPr>
              <a:t>importcert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-</a:t>
            </a:r>
            <a:r>
              <a:rPr lang="es-MX" sz="1450" noProof="1">
                <a:solidFill>
                  <a:srgbClr val="FF0000"/>
                </a:solidFill>
                <a:latin typeface="Barlow" pitchFamily="2" charset="77"/>
              </a:rPr>
              <a:t>alias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mtls-ca -file ca.crt -</a:t>
            </a:r>
            <a:r>
              <a:rPr lang="es-MX" sz="1450" noProof="1">
                <a:solidFill>
                  <a:srgbClr val="FF0000"/>
                </a:solidFill>
                <a:latin typeface="Barlow" pitchFamily="2" charset="77"/>
              </a:rPr>
              <a:t>noprompt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\</a:t>
            </a: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 -</a:t>
            </a:r>
            <a:r>
              <a:rPr lang="es-MX" sz="1450" noProof="1">
                <a:solidFill>
                  <a:srgbClr val="FF0000"/>
                </a:solidFill>
                <a:latin typeface="Barlow" pitchFamily="2" charset="77"/>
              </a:rPr>
              <a:t>keystore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provider-truststore.p12 -</a:t>
            </a:r>
            <a:r>
              <a:rPr lang="es-MX" sz="1450" noProof="1">
                <a:solidFill>
                  <a:srgbClr val="FF0000"/>
                </a:solidFill>
                <a:latin typeface="Barlow" pitchFamily="2" charset="77"/>
              </a:rPr>
              <a:t>storetype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PKCS12 -</a:t>
            </a:r>
            <a:r>
              <a:rPr lang="es-MX" sz="1450" noProof="1">
                <a:solidFill>
                  <a:srgbClr val="FF0000"/>
                </a:solidFill>
                <a:latin typeface="Barlow" pitchFamily="2" charset="77"/>
              </a:rPr>
              <a:t>storepass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changeit</a:t>
            </a:r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242E2DCC-15D3-E941-5ACA-DEF6FF0D7327}"/>
              </a:ext>
            </a:extLst>
          </p:cNvPr>
          <p:cNvSpPr txBox="1">
            <a:spLocks/>
          </p:cNvSpPr>
          <p:nvPr/>
        </p:nvSpPr>
        <p:spPr>
          <a:xfrm>
            <a:off x="291308" y="212620"/>
            <a:ext cx="8152781" cy="56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CREACION DEL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CODIGO DE EJEMPLO</a:t>
            </a:r>
          </a:p>
        </p:txBody>
      </p:sp>
    </p:spTree>
    <p:extLst>
      <p:ext uri="{BB962C8B-B14F-4D97-AF65-F5344CB8AC3E}">
        <p14:creationId xmlns:p14="http://schemas.microsoft.com/office/powerpoint/2010/main" val="3769482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BBD8D2E8-810A-3126-0C70-7491646D3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23BD1BFA-C1AA-E69B-F776-1F74CA10E4A6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1C74055C-3962-51F6-8ED2-A312D8735E7C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1E250AD-0BCF-9B45-6DED-36429776AD03}"/>
              </a:ext>
            </a:extLst>
          </p:cNvPr>
          <p:cNvSpPr txBox="1"/>
          <p:nvPr/>
        </p:nvSpPr>
        <p:spPr>
          <a:xfrm>
            <a:off x="291308" y="212620"/>
            <a:ext cx="885269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noProof="1">
                <a:solidFill>
                  <a:srgbClr val="666666"/>
                </a:solidFill>
                <a:latin typeface="Barlow"/>
              </a:rPr>
              <a:t># Generar par de claves</a:t>
            </a:r>
          </a:p>
          <a:p>
            <a:pPr algn="just"/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keytool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genkeypair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-alias consumer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keyalg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RSA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keysize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2048 -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sigalg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SHA256withRSA \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validity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825 -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dname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"CN=consumer-service, O=Capacitacion, C=MX" \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ext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"san=dns:localhost,ip:127.0.0.1" \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keystore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consumer-keystore.p12 -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storetype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PKCS12 -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storepass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changeit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keypass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changeit</a:t>
            </a:r>
          </a:p>
          <a:p>
            <a:pPr algn="just"/>
            <a:r>
              <a:rPr lang="en-US" b="1" noProof="1">
                <a:solidFill>
                  <a:srgbClr val="666666"/>
                </a:solidFill>
                <a:latin typeface="Barlow"/>
              </a:rPr>
              <a:t># CSR</a:t>
            </a:r>
          </a:p>
          <a:p>
            <a:pPr algn="just"/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keytool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certreq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alias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consumer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keystore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consumer-keystore.p12 -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storepass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changeit \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ext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"san=dns:localhost,ip:127.0.0.1"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file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consumer.csr</a:t>
            </a:r>
          </a:p>
          <a:p>
            <a:pPr algn="just"/>
            <a:r>
              <a:rPr lang="en-US" b="1" noProof="1">
                <a:solidFill>
                  <a:srgbClr val="666666"/>
                </a:solidFill>
                <a:latin typeface="Barlow"/>
              </a:rPr>
              <a:t># Firmar</a:t>
            </a:r>
          </a:p>
          <a:p>
            <a:pPr algn="just"/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keytool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gencert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alias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mtls-ca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keystore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ca.p12 -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storepass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changeit \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infile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consumer.csr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outfile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consumer.crt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validity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825 \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ext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"san=dns:localhost,ip:127.0.0.1" \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ext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"ku=digitalSignature,keyEncipherment" \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ext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"eku=serverAuth,clientAuth"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rfc</a:t>
            </a:r>
          </a:p>
          <a:p>
            <a:pPr algn="just"/>
            <a:r>
              <a:rPr lang="en-US" b="1" noProof="1">
                <a:solidFill>
                  <a:srgbClr val="666666"/>
                </a:solidFill>
                <a:latin typeface="Barlow"/>
              </a:rPr>
              <a:t># Importar CA + cert firmado</a:t>
            </a:r>
          </a:p>
          <a:p>
            <a:pPr algn="just"/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keytool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importcert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alias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mtls-ca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file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ca.crt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noprompt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\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keystore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consumer-keystore.p12 -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storepass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changeit</a:t>
            </a:r>
          </a:p>
          <a:p>
            <a:pPr algn="just"/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keytool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importcert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alias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consumer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file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consumer.crt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noprompt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\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keystore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consumer-keystore.p12 -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storepass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changeit</a:t>
            </a:r>
          </a:p>
          <a:p>
            <a:pPr algn="just"/>
            <a:r>
              <a:rPr lang="en-US" b="1" noProof="1">
                <a:solidFill>
                  <a:srgbClr val="666666"/>
                </a:solidFill>
                <a:latin typeface="Barlow"/>
              </a:rPr>
              <a:t># Truststore</a:t>
            </a:r>
          </a:p>
          <a:p>
            <a:pPr algn="just"/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keytool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importcert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alias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mtls-ca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file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ca.crt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noprompt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\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keystore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consumer-truststore.p12 -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storetype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PKCS12 -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storepass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changeit</a:t>
            </a:r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792BD810-D765-BB22-C8EE-2E5A4A6F11C1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</p:spTree>
    <p:extLst>
      <p:ext uri="{BB962C8B-B14F-4D97-AF65-F5344CB8AC3E}">
        <p14:creationId xmlns:p14="http://schemas.microsoft.com/office/powerpoint/2010/main" val="2005537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D063C439-5E37-36EF-2B5F-63DFC25E8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B5229162-7FCE-1C56-ACE2-40C6C928DDB9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5D203D5-90BA-518A-263F-28336A534B3A}"/>
              </a:ext>
            </a:extLst>
          </p:cNvPr>
          <p:cNvSpPr txBox="1"/>
          <p:nvPr/>
        </p:nvSpPr>
        <p:spPr>
          <a:xfrm>
            <a:off x="291308" y="798187"/>
            <a:ext cx="7972159" cy="423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Despues configuramos SSL Bundles de Spring Boot 3.1</a:t>
            </a:r>
          </a:p>
          <a:p>
            <a:pPr algn="just"/>
            <a:r>
              <a:rPr lang="en-US" noProof="1">
                <a:solidFill>
                  <a:srgbClr val="FF0000"/>
                </a:solidFill>
                <a:latin typeface="Barlow"/>
              </a:rPr>
              <a:t>ssl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: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bundle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: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jks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: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provider-bundle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: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keystore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: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  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location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: classpath:keystore/provider-keystore.p12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  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password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: changeit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  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type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: PKCS12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truststore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: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  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location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: classpath:keystore/provider-truststore.p12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  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password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: changeit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  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type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: PKCS12</a:t>
            </a:r>
          </a:p>
          <a:p>
            <a:pPr algn="just"/>
            <a:r>
              <a:rPr lang="es-MX" sz="1450" noProof="1">
                <a:solidFill>
                  <a:srgbClr val="FF0000"/>
                </a:solidFill>
                <a:latin typeface="Barlow" pitchFamily="2" charset="77"/>
              </a:rPr>
              <a:t>server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:</a:t>
            </a: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 </a:t>
            </a:r>
            <a:r>
              <a:rPr lang="es-MX" sz="1450" noProof="1">
                <a:solidFill>
                  <a:srgbClr val="FF0000"/>
                </a:solidFill>
                <a:latin typeface="Barlow" pitchFamily="2" charset="77"/>
              </a:rPr>
              <a:t>port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: 8443</a:t>
            </a: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 </a:t>
            </a:r>
            <a:r>
              <a:rPr lang="es-MX" sz="1450" noProof="1">
                <a:solidFill>
                  <a:srgbClr val="FF0000"/>
                </a:solidFill>
                <a:latin typeface="Barlow" pitchFamily="2" charset="77"/>
              </a:rPr>
              <a:t>ssl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:</a:t>
            </a: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   </a:t>
            </a:r>
            <a:r>
              <a:rPr lang="es-MX" sz="1450" noProof="1">
                <a:solidFill>
                  <a:srgbClr val="FF0000"/>
                </a:solidFill>
                <a:latin typeface="Barlow" pitchFamily="2" charset="77"/>
              </a:rPr>
              <a:t>bundle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: provider-bundle</a:t>
            </a: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   </a:t>
            </a:r>
            <a:r>
              <a:rPr lang="es-MX" sz="1450" noProof="1">
                <a:solidFill>
                  <a:srgbClr val="FF0000"/>
                </a:solidFill>
                <a:latin typeface="Barlow" pitchFamily="2" charset="77"/>
              </a:rPr>
              <a:t>client-auth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: need</a:t>
            </a:r>
          </a:p>
          <a:p>
            <a:pPr algn="just"/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    </a:t>
            </a:r>
            <a:r>
              <a:rPr lang="es-MX" sz="1450" noProof="1">
                <a:solidFill>
                  <a:srgbClr val="FF0000"/>
                </a:solidFill>
                <a:latin typeface="Barlow" pitchFamily="2" charset="77"/>
              </a:rPr>
              <a:t>enabled-protocols</a:t>
            </a:r>
            <a:r>
              <a:rPr lang="es-MX" sz="1450" noProof="1">
                <a:solidFill>
                  <a:srgbClr val="666666"/>
                </a:solidFill>
                <a:latin typeface="Barlow" pitchFamily="2" charset="77"/>
              </a:rPr>
              <a:t>: TLSv1.3,TLSv1.2</a:t>
            </a:r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7A5884A0-0F17-06D7-AF46-971B3765DE6D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44364913-1857-4827-DEAE-48D695F464A4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8D998ABB-0608-CD01-4A77-7D775CFD96CA}"/>
              </a:ext>
            </a:extLst>
          </p:cNvPr>
          <p:cNvSpPr txBox="1">
            <a:spLocks/>
          </p:cNvSpPr>
          <p:nvPr/>
        </p:nvSpPr>
        <p:spPr>
          <a:xfrm>
            <a:off x="291308" y="235241"/>
            <a:ext cx="8152781" cy="56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CREACION DEL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CODIGO DE EJEMPLO</a:t>
            </a:r>
          </a:p>
        </p:txBody>
      </p:sp>
    </p:spTree>
    <p:extLst>
      <p:ext uri="{BB962C8B-B14F-4D97-AF65-F5344CB8AC3E}">
        <p14:creationId xmlns:p14="http://schemas.microsoft.com/office/powerpoint/2010/main" val="3428747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22EAD323-090F-96AD-16A6-97052BECC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6AC3D951-69DB-1312-F763-F5933FFE1A7B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BDFB1AC4-AEB1-BD02-15FD-37B4666DE910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D8B55C-9EFF-B28A-BA02-E435B23FD298}"/>
              </a:ext>
            </a:extLst>
          </p:cNvPr>
          <p:cNvSpPr txBox="1"/>
          <p:nvPr/>
        </p:nvSpPr>
        <p:spPr>
          <a:xfrm>
            <a:off x="291308" y="798187"/>
            <a:ext cx="797215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noProof="1">
                <a:solidFill>
                  <a:srgbClr val="666666"/>
                </a:solidFill>
                <a:latin typeface="Barlow"/>
              </a:rPr>
              <a:t>@Data</a:t>
            </a:r>
          </a:p>
          <a:p>
            <a:pPr algn="just"/>
            <a:r>
              <a:rPr lang="en-US" b="1" noProof="1">
                <a:solidFill>
                  <a:srgbClr val="666666"/>
                </a:solidFill>
                <a:latin typeface="Barlow"/>
              </a:rPr>
              <a:t>@NoArgsConstructor</a:t>
            </a:r>
          </a:p>
          <a:p>
            <a:pPr algn="just"/>
            <a:r>
              <a:rPr lang="en-US" b="1" noProof="1">
                <a:solidFill>
                  <a:srgbClr val="666666"/>
                </a:solidFill>
                <a:latin typeface="Barlow"/>
              </a:rPr>
              <a:t>@ConfigurationProperties(prefix = "provider")</a:t>
            </a:r>
          </a:p>
          <a:p>
            <a:pPr algn="just"/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public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class 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ProviderProperties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{</a:t>
            </a:r>
          </a:p>
          <a:p>
            <a:pPr algn="just"/>
            <a:endParaRPr lang="en-US" noProof="1">
              <a:solidFill>
                <a:srgbClr val="666666"/>
              </a:solidFill>
              <a:latin typeface="Barlow"/>
            </a:endParaRP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private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String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baseUrl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;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private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KeystoreProps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keystore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;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private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KeystoreProps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truststore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;</a:t>
            </a:r>
          </a:p>
          <a:p>
            <a:pPr algn="just"/>
            <a:endParaRPr lang="en-US" noProof="1">
              <a:solidFill>
                <a:srgbClr val="666666"/>
              </a:solidFill>
              <a:latin typeface="Barlow"/>
            </a:endParaRPr>
          </a:p>
          <a:p>
            <a:pPr algn="just"/>
            <a:r>
              <a:rPr lang="en-US" b="1" noProof="1">
                <a:solidFill>
                  <a:srgbClr val="666666"/>
                </a:solidFill>
                <a:latin typeface="Barlow"/>
              </a:rPr>
              <a:t>    @Data</a:t>
            </a:r>
          </a:p>
          <a:p>
            <a:pPr algn="just"/>
            <a:r>
              <a:rPr lang="en-US" b="1" noProof="1">
                <a:solidFill>
                  <a:srgbClr val="666666"/>
                </a:solidFill>
                <a:latin typeface="Barlow"/>
              </a:rPr>
              <a:t>    @NoArgsConstructor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public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static class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KeystoreProps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{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private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String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path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;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private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String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password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;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private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String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type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;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}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}</a:t>
            </a:r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B202CB56-71B3-5F9A-C68B-4CB0C793273F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70D6D924-D287-24D2-D3A8-D4C8FFDD0512}"/>
              </a:ext>
            </a:extLst>
          </p:cNvPr>
          <p:cNvSpPr txBox="1">
            <a:spLocks/>
          </p:cNvSpPr>
          <p:nvPr/>
        </p:nvSpPr>
        <p:spPr>
          <a:xfrm>
            <a:off x="291308" y="235241"/>
            <a:ext cx="8152781" cy="56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CREACION DEL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CODIGO DE EJEMPLO</a:t>
            </a:r>
          </a:p>
        </p:txBody>
      </p:sp>
    </p:spTree>
    <p:extLst>
      <p:ext uri="{BB962C8B-B14F-4D97-AF65-F5344CB8AC3E}">
        <p14:creationId xmlns:p14="http://schemas.microsoft.com/office/powerpoint/2010/main" val="4195513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B149057C-A3B1-C914-0CC5-39ECEE5DD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1D189B70-C7E9-2350-9805-CF033E96DA7E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9EED1285-A313-B4D0-6C3A-BA29EDF56F87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8C445DC-D2D0-78BD-E886-7F3812E4D607}"/>
              </a:ext>
            </a:extLst>
          </p:cNvPr>
          <p:cNvSpPr txBox="1"/>
          <p:nvPr/>
        </p:nvSpPr>
        <p:spPr>
          <a:xfrm>
            <a:off x="291308" y="798187"/>
            <a:ext cx="797215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private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static final String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TLS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_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PROTOCOL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= "TLSv1.3";</a:t>
            </a:r>
          </a:p>
          <a:p>
            <a:pPr algn="just"/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private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final ProviderProperties props;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private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final ResourceLoader resourceLoader;</a:t>
            </a:r>
          </a:p>
          <a:p>
            <a:pPr algn="just"/>
            <a:endParaRPr lang="en-US" noProof="1">
              <a:solidFill>
                <a:srgbClr val="666666"/>
              </a:solidFill>
              <a:latin typeface="Barlow"/>
            </a:endParaRP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public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SSLContext build() throws GeneralSecurityException, IOException {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KeyStore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keyStore =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loadKeyStore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(props.getKeystore());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KeyManagerFactory kmf = KeyManagerFactory.getInstance(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  KeyManagerFactory.getDefaultAlgorithm());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kmf.init(keyStore, props.getKeystore().getPassword().toCharArray());</a:t>
            </a:r>
          </a:p>
          <a:p>
            <a:pPr algn="just"/>
            <a:endParaRPr lang="en-US" noProof="1">
              <a:solidFill>
                <a:srgbClr val="666666"/>
              </a:solidFill>
              <a:latin typeface="Barlow"/>
            </a:endParaRP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KeyStore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trustStore =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loadKeyStore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(props.getTruststore());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TrustManagerFactory tmf = TrustManagerFactory.getInstance(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  TrustManagerFactory.getDefaultAlgorithm());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tmf.init(trustStore);</a:t>
            </a:r>
          </a:p>
          <a:p>
            <a:pPr algn="just"/>
            <a:endParaRPr lang="en-US" noProof="1">
              <a:solidFill>
                <a:srgbClr val="666666"/>
              </a:solidFill>
              <a:latin typeface="Barlow"/>
            </a:endParaRP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SSLContext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sslContext =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SSLContext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.getInstance(TLS_PROTOCOL);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sslContext.init(kmf.getKeyManagers(), tmf.getTrustManagers(), null);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log.info("Initialized {} SSLContext for programmatic mTLS client", TLS_PROTOCOL);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return sslContext;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}</a:t>
            </a:r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1699BAAB-EF72-EA0C-9589-F196E4197B1E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CF5DB8C7-2229-F5F6-D0AC-087D1B9E599A}"/>
              </a:ext>
            </a:extLst>
          </p:cNvPr>
          <p:cNvSpPr txBox="1">
            <a:spLocks/>
          </p:cNvSpPr>
          <p:nvPr/>
        </p:nvSpPr>
        <p:spPr>
          <a:xfrm>
            <a:off x="291308" y="235241"/>
            <a:ext cx="8152781" cy="56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CREACION DEL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CODIGO DE EJEMPLO</a:t>
            </a:r>
          </a:p>
        </p:txBody>
      </p:sp>
    </p:spTree>
    <p:extLst>
      <p:ext uri="{BB962C8B-B14F-4D97-AF65-F5344CB8AC3E}">
        <p14:creationId xmlns:p14="http://schemas.microsoft.com/office/powerpoint/2010/main" val="2494919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B1F86759-3D3F-4F82-4C41-090081300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799D64FA-AE40-275F-74F0-8A931023B638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3A37C64E-E7DE-FF90-A77F-599EF38E8F39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0B20EF3-C5C2-B8F9-D28D-FABDE70C3286}"/>
              </a:ext>
            </a:extLst>
          </p:cNvPr>
          <p:cNvSpPr txBox="1"/>
          <p:nvPr/>
        </p:nvSpPr>
        <p:spPr>
          <a:xfrm>
            <a:off x="291308" y="798187"/>
            <a:ext cx="797215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noProof="1">
                <a:solidFill>
                  <a:srgbClr val="666666"/>
                </a:solidFill>
                <a:latin typeface="Barlow"/>
              </a:rPr>
              <a:t>@Configuration</a:t>
            </a:r>
          </a:p>
          <a:p>
            <a:pPr algn="just"/>
            <a:r>
              <a:rPr lang="en-US" b="1" noProof="1">
                <a:solidFill>
                  <a:srgbClr val="666666"/>
                </a:solidFill>
                <a:latin typeface="Barlow"/>
              </a:rPr>
              <a:t>@RequiredArgsConstructor</a:t>
            </a:r>
          </a:p>
          <a:p>
            <a:pPr algn="just"/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public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class 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HttpClientConfig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{</a:t>
            </a:r>
          </a:p>
          <a:p>
            <a:pPr algn="just"/>
            <a:endParaRPr lang="en-US" noProof="1">
              <a:solidFill>
                <a:srgbClr val="666666"/>
              </a:solidFill>
              <a:latin typeface="Barlow"/>
            </a:endParaRP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private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final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SslContextFactory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sslContextFactory;</a:t>
            </a:r>
          </a:p>
          <a:p>
            <a:pPr algn="just"/>
            <a:endParaRPr lang="en-US" noProof="1">
              <a:solidFill>
                <a:srgbClr val="666666"/>
              </a:solidFill>
              <a:latin typeface="Barlow"/>
            </a:endParaRPr>
          </a:p>
          <a:p>
            <a:pPr algn="just"/>
            <a:r>
              <a:rPr lang="en-US" b="1" noProof="1">
                <a:solidFill>
                  <a:srgbClr val="666666"/>
                </a:solidFill>
                <a:latin typeface="Barlow"/>
              </a:rPr>
              <a:t>    @Bean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public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HttpClient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mtlsHttpClient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() throws GeneralSecurityException, IOException {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return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HttpClient.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newBuilder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()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  .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sslContext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(sslContextFactory.build())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  .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connectTimeout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(Duration.ofSeconds(5))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  .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version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(HttpClient.Version.HTTP_2)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  .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build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();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}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}</a:t>
            </a:r>
          </a:p>
          <a:p>
            <a:pPr algn="just"/>
            <a:endParaRPr lang="en-US" noProof="1">
              <a:solidFill>
                <a:srgbClr val="666666"/>
              </a:solidFill>
              <a:latin typeface="Barlow"/>
            </a:endParaRPr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D9ED7303-7BA9-2E72-E136-C83D93ABE68B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599615FE-114C-4BE6-7832-D2717151A2D8}"/>
              </a:ext>
            </a:extLst>
          </p:cNvPr>
          <p:cNvSpPr txBox="1">
            <a:spLocks/>
          </p:cNvSpPr>
          <p:nvPr/>
        </p:nvSpPr>
        <p:spPr>
          <a:xfrm>
            <a:off x="291308" y="235241"/>
            <a:ext cx="8152781" cy="56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CREACION DEL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CODIGO DE EJEMPLO</a:t>
            </a:r>
          </a:p>
        </p:txBody>
      </p:sp>
    </p:spTree>
    <p:extLst>
      <p:ext uri="{BB962C8B-B14F-4D97-AF65-F5344CB8AC3E}">
        <p14:creationId xmlns:p14="http://schemas.microsoft.com/office/powerpoint/2010/main" val="829422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5A69CDCF-FAD1-775D-AF06-88AFDBA67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E3225ED8-A5EA-92F9-50B3-ED9A24638B06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87A8AA21-4812-06A0-5242-76F80A357088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7C1E76D-C6CB-F73B-4FCB-C225AD4080C0}"/>
              </a:ext>
            </a:extLst>
          </p:cNvPr>
          <p:cNvSpPr txBox="1"/>
          <p:nvPr/>
        </p:nvSpPr>
        <p:spPr>
          <a:xfrm>
            <a:off x="291308" y="754136"/>
            <a:ext cx="797215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noProof="1">
                <a:solidFill>
                  <a:srgbClr val="666666"/>
                </a:solidFill>
                <a:latin typeface="Barlow"/>
              </a:rPr>
              <a:t>@Configuration</a:t>
            </a:r>
          </a:p>
          <a:p>
            <a:pPr algn="just"/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public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class 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RestClientConfig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{</a:t>
            </a:r>
          </a:p>
          <a:p>
            <a:pPr algn="just"/>
            <a:endParaRPr lang="en-US" noProof="1">
              <a:solidFill>
                <a:srgbClr val="666666"/>
              </a:solidFill>
              <a:latin typeface="Barlow"/>
            </a:endParaRP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</a:t>
            </a:r>
            <a:r>
              <a:rPr lang="en-US" b="1" noProof="1">
                <a:solidFill>
                  <a:srgbClr val="666666"/>
                </a:solidFill>
                <a:latin typeface="Barlow"/>
              </a:rPr>
              <a:t>@Bean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public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RestClient </a:t>
            </a:r>
            <a:r>
              <a:rPr lang="en-US" noProof="1">
                <a:solidFill>
                  <a:srgbClr val="FF0000"/>
                </a:solidFill>
                <a:latin typeface="Barlow"/>
              </a:rPr>
              <a:t>mtlsRestClient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(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RestClient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.Builder builder,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SslBundles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sslBundles,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ProviderProperties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props) {</a:t>
            </a:r>
          </a:p>
          <a:p>
            <a:pPr algn="just"/>
            <a:endParaRPr lang="en-US" noProof="1">
              <a:solidFill>
                <a:srgbClr val="666666"/>
              </a:solidFill>
              <a:latin typeface="Barlow"/>
            </a:endParaRP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ClientHttpRequestFactorySettings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settings =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ClientHttpRequestFactorySettings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.defaults()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      .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withSslBundle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(sslBundles.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getBundle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("consumer-bundle"));</a:t>
            </a:r>
          </a:p>
          <a:p>
            <a:pPr algn="just"/>
            <a:endParaRPr lang="en-US" noProof="1">
              <a:solidFill>
                <a:srgbClr val="666666"/>
              </a:solidFill>
              <a:latin typeface="Barlow"/>
            </a:endParaRP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ClientHttpRequestFactory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factory =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ClientHttpRequestFactoryBuilder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.detect().build(settings);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return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builder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  .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requestFactory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(factory)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  .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baseUrl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(props.getBaseUrl())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  .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build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();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}</a:t>
            </a:r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F8394ACD-AE75-4D13-9AD6-119EDE5C006A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9FF583A4-45AD-14EE-143E-E1EE1D859A82}"/>
              </a:ext>
            </a:extLst>
          </p:cNvPr>
          <p:cNvSpPr txBox="1">
            <a:spLocks/>
          </p:cNvSpPr>
          <p:nvPr/>
        </p:nvSpPr>
        <p:spPr>
          <a:xfrm>
            <a:off x="291308" y="235241"/>
            <a:ext cx="8152781" cy="56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CREACION DEL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CODIGO DE EJEMPLO</a:t>
            </a:r>
          </a:p>
        </p:txBody>
      </p:sp>
    </p:spTree>
    <p:extLst>
      <p:ext uri="{BB962C8B-B14F-4D97-AF65-F5344CB8AC3E}">
        <p14:creationId xmlns:p14="http://schemas.microsoft.com/office/powerpoint/2010/main" val="3328567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BE6B6D62-9A70-5EE1-B1A7-48891C9C5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B85F9630-8C6B-A8C8-4897-0E5AB5920061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F213A4B-FD8E-2E6A-F90C-C825E7F96210}"/>
              </a:ext>
            </a:extLst>
          </p:cNvPr>
          <p:cNvSpPr txBox="1"/>
          <p:nvPr/>
        </p:nvSpPr>
        <p:spPr>
          <a:xfrm>
            <a:off x="291308" y="978183"/>
            <a:ext cx="7972159" cy="3762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noProof="1">
                <a:solidFill>
                  <a:srgbClr val="666666"/>
                </a:solidFill>
                <a:latin typeface="Barlow"/>
              </a:rPr>
              <a:t>@Component</a:t>
            </a:r>
          </a:p>
          <a:p>
            <a:pPr algn="just"/>
            <a:r>
              <a:rPr lang="en-US" b="1" noProof="1">
                <a:solidFill>
                  <a:srgbClr val="666666"/>
                </a:solidFill>
                <a:latin typeface="Barlow"/>
              </a:rPr>
              <a:t>@RequiredArgsConstructor</a:t>
            </a:r>
          </a:p>
          <a:p>
            <a:pPr algn="just"/>
            <a:r>
              <a:rPr lang="en-US" b="1" noProof="1">
                <a:solidFill>
                  <a:srgbClr val="666666"/>
                </a:solidFill>
                <a:latin typeface="Barlow"/>
              </a:rPr>
              <a:t>@Slf4j</a:t>
            </a:r>
          </a:p>
          <a:p>
            <a:pPr algn="just"/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public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class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UserDeclarativeRestClient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{</a:t>
            </a:r>
          </a:p>
          <a:p>
            <a:pPr algn="just"/>
            <a:endParaRPr lang="en-US" noProof="1">
              <a:solidFill>
                <a:srgbClr val="666666"/>
              </a:solidFill>
              <a:latin typeface="Barlow"/>
            </a:endParaRP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private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final RestClient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mtlsRestClient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;</a:t>
            </a:r>
          </a:p>
          <a:p>
            <a:pPr algn="just"/>
            <a:endParaRPr lang="en-US" noProof="1">
              <a:solidFill>
                <a:srgbClr val="666666"/>
              </a:solidFill>
              <a:latin typeface="Barlow"/>
            </a:endParaRP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public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UserGetAllResponse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get_all_users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() {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return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 mtlsRestClient.get()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  .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uri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("/api/users")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  .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retrieve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()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        .</a:t>
            </a:r>
            <a:r>
              <a:rPr lang="en-US" noProof="1">
                <a:solidFill>
                  <a:schemeClr val="accent1">
                    <a:lumMod val="75000"/>
                  </a:schemeClr>
                </a:solidFill>
                <a:latin typeface="Barlow"/>
              </a:rPr>
              <a:t>body</a:t>
            </a:r>
            <a:r>
              <a:rPr lang="en-US" noProof="1">
                <a:solidFill>
                  <a:srgbClr val="666666"/>
                </a:solidFill>
                <a:latin typeface="Barlow"/>
              </a:rPr>
              <a:t>(UserGetAllResponse.class);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    }</a:t>
            </a: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}</a:t>
            </a:r>
          </a:p>
          <a:p>
            <a:pPr algn="just"/>
            <a:endParaRPr lang="en-US" noProof="1">
              <a:solidFill>
                <a:srgbClr val="666666"/>
              </a:solidFill>
              <a:latin typeface="Barlow"/>
            </a:endParaRPr>
          </a:p>
          <a:p>
            <a:pPr algn="just"/>
            <a:r>
              <a:rPr lang="en-US" noProof="1">
                <a:solidFill>
                  <a:srgbClr val="666666"/>
                </a:solidFill>
                <a:latin typeface="Barlow"/>
              </a:rPr>
              <a:t>userProgrammaticClient</a:t>
            </a:r>
          </a:p>
          <a:p>
            <a:pPr algn="just"/>
            <a:endParaRPr lang="es-MX" sz="1450" noProof="1">
              <a:solidFill>
                <a:srgbClr val="666666"/>
              </a:solidFill>
              <a:latin typeface="Barlow" pitchFamily="2" charset="77"/>
            </a:endParaRPr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0B7B96EE-E658-47EA-817B-851410DD2052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BA23B374-FEDA-6232-6F82-FDF1480D42D1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036E261C-8D15-EB36-3D42-737FAEF051F9}"/>
              </a:ext>
            </a:extLst>
          </p:cNvPr>
          <p:cNvSpPr txBox="1">
            <a:spLocks/>
          </p:cNvSpPr>
          <p:nvPr/>
        </p:nvSpPr>
        <p:spPr>
          <a:xfrm>
            <a:off x="291308" y="212620"/>
            <a:ext cx="8152781" cy="56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CREACION DEL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CODIGO DE EJEMPLO</a:t>
            </a:r>
          </a:p>
        </p:txBody>
      </p:sp>
    </p:spTree>
    <p:extLst>
      <p:ext uri="{BB962C8B-B14F-4D97-AF65-F5344CB8AC3E}">
        <p14:creationId xmlns:p14="http://schemas.microsoft.com/office/powerpoint/2010/main" val="3336424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02EDBBC1-4380-459D-5CD6-ED0299FCC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4896DCF2-E954-3FF4-14B4-C7A8358B584C}"/>
              </a:ext>
            </a:extLst>
          </p:cNvPr>
          <p:cNvSpPr/>
          <p:nvPr/>
        </p:nvSpPr>
        <p:spPr>
          <a:xfrm>
            <a:off x="7733608" y="2549032"/>
            <a:ext cx="1242300" cy="1242300"/>
          </a:xfrm>
          <a:prstGeom prst="ellipse">
            <a:avLst/>
          </a:prstGeom>
          <a:solidFill>
            <a:srgbClr val="CC0000">
              <a:alpha val="63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2" name="Google Shape;92;p16">
            <a:extLst>
              <a:ext uri="{FF2B5EF4-FFF2-40B4-BE49-F238E27FC236}">
                <a16:creationId xmlns:a16="http://schemas.microsoft.com/office/drawing/2014/main" id="{D6B0CF37-F13A-4DCB-27C4-58F17EFBC47D}"/>
              </a:ext>
            </a:extLst>
          </p:cNvPr>
          <p:cNvSpPr/>
          <p:nvPr/>
        </p:nvSpPr>
        <p:spPr>
          <a:xfrm>
            <a:off x="4945074" y="3456380"/>
            <a:ext cx="1474500" cy="1474500"/>
          </a:xfrm>
          <a:prstGeom prst="ellipse">
            <a:avLst/>
          </a:prstGeom>
          <a:solidFill>
            <a:srgbClr val="FFE599">
              <a:alpha val="246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93" name="Google Shape;93;p16">
            <a:extLst>
              <a:ext uri="{FF2B5EF4-FFF2-40B4-BE49-F238E27FC236}">
                <a16:creationId xmlns:a16="http://schemas.microsoft.com/office/drawing/2014/main" id="{3CE1D8B4-AE8D-3BD8-BD2E-5A53AC6396F9}"/>
              </a:ext>
            </a:extLst>
          </p:cNvPr>
          <p:cNvSpPr/>
          <p:nvPr/>
        </p:nvSpPr>
        <p:spPr>
          <a:xfrm>
            <a:off x="6988025" y="3863083"/>
            <a:ext cx="1194000" cy="1194000"/>
          </a:xfrm>
          <a:prstGeom prst="ellipse">
            <a:avLst/>
          </a:prstGeom>
          <a:solidFill>
            <a:srgbClr val="FF0000">
              <a:alpha val="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1"/>
          </a:p>
        </p:txBody>
      </p:sp>
      <p:sp>
        <p:nvSpPr>
          <p:cNvPr id="2" name="Google Shape;164;p28">
            <a:extLst>
              <a:ext uri="{FF2B5EF4-FFF2-40B4-BE49-F238E27FC236}">
                <a16:creationId xmlns:a16="http://schemas.microsoft.com/office/drawing/2014/main" id="{56FD638E-291A-8E1F-E648-1EACB729C310}"/>
              </a:ext>
            </a:extLst>
          </p:cNvPr>
          <p:cNvSpPr txBox="1">
            <a:spLocks/>
          </p:cNvSpPr>
          <p:nvPr/>
        </p:nvSpPr>
        <p:spPr>
          <a:xfrm>
            <a:off x="291308" y="212619"/>
            <a:ext cx="6696717" cy="65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990"/>
            </a:pPr>
            <a:r>
              <a:rPr lang="es-MX" sz="2720" noProof="1">
                <a:solidFill>
                  <a:schemeClr val="accent4"/>
                </a:solidFill>
                <a:latin typeface="Barlow Medium"/>
                <a:ea typeface="Barlow Medium"/>
                <a:cs typeface="Barlow Medium"/>
                <a:sym typeface="Barlow Medium"/>
              </a:rPr>
              <a:t>RESULTADO </a:t>
            </a:r>
            <a:r>
              <a:rPr lang="es-MX" sz="2720" noProof="1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ESPERADO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D9E0AC6-D09A-42C3-DBCD-0E80B7917259}"/>
              </a:ext>
            </a:extLst>
          </p:cNvPr>
          <p:cNvSpPr txBox="1"/>
          <p:nvPr/>
        </p:nvSpPr>
        <p:spPr>
          <a:xfrm>
            <a:off x="354077" y="1092286"/>
            <a:ext cx="51242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noProof="1">
                <a:solidFill>
                  <a:srgbClr val="666666"/>
                </a:solidFill>
                <a:latin typeface="Barlow"/>
              </a:rPr>
              <a:t>Finalmente ejecutamos nuestro proyecto, probamos y con ello hemos migrado nuestro anterior proyecto de arquitectura en capas a arquitectura hexagonal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36075CF-3355-ED96-5DA2-B9ACFCE77FCE}"/>
              </a:ext>
            </a:extLst>
          </p:cNvPr>
          <p:cNvSpPr/>
          <p:nvPr/>
        </p:nvSpPr>
        <p:spPr>
          <a:xfrm>
            <a:off x="7069295" y="3404306"/>
            <a:ext cx="657225" cy="161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984676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13095</TotalTime>
  <Words>1672</Words>
  <Application>Microsoft Macintosh PowerPoint</Application>
  <PresentationFormat>Presentación en pantalla (16:9)</PresentationFormat>
  <Paragraphs>210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Barlow Medium</vt:lpstr>
      <vt:lpstr>Arial</vt:lpstr>
      <vt:lpstr>Barlow ExtraLight</vt:lpstr>
      <vt:lpstr>Barlow ExtraBold</vt:lpstr>
      <vt:lpstr>Barlow</vt:lpstr>
      <vt:lpstr>Simple Light</vt:lpstr>
      <vt:lpstr>Simple Light</vt:lpstr>
      <vt:lpstr>HTTPS - MTLS SPRINGBOOT Ejemplo.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PROYECTOS CERRADOS</dc:title>
  <cp:lastModifiedBy>CHRISTIAN HERNANDEZ  ALTAMIRANO</cp:lastModifiedBy>
  <cp:revision>179</cp:revision>
  <dcterms:modified xsi:type="dcterms:W3CDTF">2026-05-12T15:10:43Z</dcterms:modified>
</cp:coreProperties>
</file>