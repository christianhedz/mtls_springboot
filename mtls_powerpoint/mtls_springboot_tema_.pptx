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370" r:id="rId4"/>
    <p:sldId id="389" r:id="rId5"/>
    <p:sldId id="387" r:id="rId6"/>
    <p:sldId id="403" r:id="rId7"/>
    <p:sldId id="408" r:id="rId8"/>
    <p:sldId id="390" r:id="rId9"/>
    <p:sldId id="404" r:id="rId10"/>
    <p:sldId id="405" r:id="rId11"/>
    <p:sldId id="406" r:id="rId12"/>
    <p:sldId id="407" r:id="rId13"/>
    <p:sldId id="393" r:id="rId14"/>
    <p:sldId id="386" r:id="rId15"/>
    <p:sldId id="409" r:id="rId16"/>
  </p:sldIdLst>
  <p:sldSz cx="9144000" cy="5143500" type="screen16x9"/>
  <p:notesSz cx="6858000" cy="9144000"/>
  <p:embeddedFontLst>
    <p:embeddedFont>
      <p:font typeface="Barlow" pitchFamily="2" charset="77"/>
      <p:regular r:id="rId18"/>
      <p:bold r:id="rId19"/>
      <p:italic r:id="rId20"/>
      <p:boldItalic r:id="rId21"/>
    </p:embeddedFont>
    <p:embeddedFont>
      <p:font typeface="Barlow ExtraBold" panose="00000900000000000000" pitchFamily="2" charset="77"/>
      <p:bold r:id="rId22"/>
      <p:italic r:id="rId23"/>
      <p:boldItalic r:id="rId24"/>
    </p:embeddedFont>
    <p:embeddedFont>
      <p:font typeface="Barlow ExtraLight" panose="00000300000000000000" pitchFamily="2" charset="77"/>
      <p:regular r:id="rId25"/>
      <p:bold r:id="rId26"/>
      <p:italic r:id="rId27"/>
      <p:boldItalic r:id="rId26"/>
    </p:embeddedFont>
    <p:embeddedFont>
      <p:font typeface="Barlow Medium" panose="00000600000000000000" pitchFamily="2" charset="77"/>
      <p:regular r:id="rId28"/>
      <p:bold r:id="rId26"/>
      <p:italic r:id="rId29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60" autoAdjust="0"/>
    <p:restoredTop sz="94242" autoAdjust="0"/>
  </p:normalViewPr>
  <p:slideViewPr>
    <p:cSldViewPr snapToGrid="0">
      <p:cViewPr varScale="1">
        <p:scale>
          <a:sx n="128" d="100"/>
          <a:sy n="128" d="100"/>
        </p:scale>
        <p:origin x="192" y="512"/>
      </p:cViewPr>
      <p:guideLst>
        <p:guide orient="horz" pos="162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4d04bd8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101" name="Google Shape;101;g2a4d04bd8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87372A4-0E31-495E-1AED-B78CF0B8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3AD643B4-702E-B917-A77C-9C633C02AC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6B8470EA-8187-1236-24E8-1DF8C4AB4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0322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5BDC3DE-F581-ED05-44C6-AA62B694C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F4F3D04B-EC43-8C1A-45FD-89B51486E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16364EF3-A5FE-07A4-0808-8B53E4C9A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067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E0B12DF-097B-24B9-6FAC-9715CAF7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4736C15A-8939-D664-FE66-374EFEC501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A1C62E39-027E-2E1E-E966-8D57AB60F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1397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ABC8EA8-6377-840E-B377-BDC6BF75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ABE1C452-464C-4ED4-3B53-1A58BA103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4A2E97B6-B35E-3F9E-AC9D-730C67FE7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459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2D9C4A5-9F24-CAA7-4713-2AD4EF38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1231B98A-0287-6BFD-C1E4-0FA895BBB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0C2FCE1E-CE51-C940-9E19-4E8865BA5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377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27B8008-9545-C041-6989-F7761583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7A656CF6-E905-F264-C91C-9388D1360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439C918A-B7CB-ADA4-CD60-DAFDED5B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5094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85808B4-A97D-69E8-69EB-017B9CF3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4E2CEF97-F4F9-D1A8-B391-C9E64838B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052808E7-B987-0803-FE53-5505508E5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4753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5FFA6C0-956A-DD9C-6158-E81E0DCB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BDFB965E-4ADF-29D0-0290-C133E36DF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E1F7AD3E-7B51-D96C-5F63-341E259D7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3756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364100B-F267-FAFD-952C-E9A15D4C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9307039D-A807-9399-0AA4-5764F2955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00B1EA3F-E8B5-CEA0-3D2B-8721932AB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2557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3A6A85B-73A7-35BB-E440-C94C52EC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CB7F9D2F-5239-C14D-64E6-57E9D538B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2D294EA8-9CFC-6846-6586-5DBFA6ACC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4331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C730BD8-65D1-8CFC-913B-167EBCA8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B88E7676-A2D0-02D3-3CF0-BC503BA8D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9278DA4E-CF98-3211-AD64-36F8A2776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361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26E74FD-3CE3-6587-8A21-5D2B447B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8F9029C2-297B-CA20-015E-32629AB94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867CDAC5-B6D7-2734-88B1-8D2737FCB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0033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EA5C783-72A1-3129-6BC1-90C3D97C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A6292086-B5BC-DE1E-15B3-A418E2DAF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B0143D64-82A2-8652-F232-0CEBA517F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299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174801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arlow ExtraBold"/>
              <a:buNone/>
              <a:defRPr sz="5200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618800" y="1567425"/>
            <a:ext cx="5906400" cy="5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559825" y="4144350"/>
            <a:ext cx="798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4"/>
          <p:cNvSpPr txBox="1"/>
          <p:nvPr/>
        </p:nvSpPr>
        <p:spPr>
          <a:xfrm rot="-5400000">
            <a:off x="-922500" y="922488"/>
            <a:ext cx="2208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Barlow ExtraLight"/>
                <a:ea typeface="Barlow ExtraLight"/>
                <a:cs typeface="Barlow ExtraLight"/>
                <a:sym typeface="Barlow ExtraLight"/>
              </a:rPr>
              <a:t>www.asteci-digital-factory.com.mx</a:t>
            </a:r>
            <a:endParaRPr sz="1000">
              <a:solidFill>
                <a:schemeClr val="lt1"/>
              </a:solidFill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29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6" r:id="rId6"/>
    <p:sldLayoutId id="2147483668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 rot="10800000">
            <a:off x="0" y="3872125"/>
            <a:ext cx="9144000" cy="1314900"/>
          </a:xfrm>
          <a:prstGeom prst="rect">
            <a:avLst/>
          </a:prstGeom>
          <a:gradFill>
            <a:gsLst>
              <a:gs pos="0">
                <a:srgbClr val="0B5394">
                  <a:alpha val="79607"/>
                </a:srgbClr>
              </a:gs>
              <a:gs pos="100000">
                <a:srgbClr val="21318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06" name="Google Shape;106;p25"/>
          <p:cNvSpPr txBox="1">
            <a:spLocks noGrp="1"/>
          </p:cNvSpPr>
          <p:nvPr>
            <p:ph type="ctrTitle"/>
          </p:nvPr>
        </p:nvSpPr>
        <p:spPr>
          <a:xfrm>
            <a:off x="2139331" y="1156111"/>
            <a:ext cx="5004419" cy="25273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es-MX" sz="48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SSL/TLS MTLS HTTPS EN MICROSERVICIOS</a:t>
            </a:r>
            <a:br>
              <a:rPr lang="es-MX" sz="12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</a:br>
            <a:r>
              <a:rPr lang="es-MX" sz="12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Tema.</a:t>
            </a:r>
          </a:p>
        </p:txBody>
      </p:sp>
      <p:pic>
        <p:nvPicPr>
          <p:cNvPr id="107" name="Google Shape;1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00" y="4262775"/>
            <a:ext cx="1349673" cy="7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20B6745-A3B7-0EA6-E8DC-231C106B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CBAB3B58-1112-BC63-86B0-D19CD53C771F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19EB55C7-AA3E-978F-7DC0-7E9CC672A001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F457AAD-C09F-746B-AB35-164DDEB4B946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95D12E03-C7A3-59D3-72DB-1328AAF1619E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D874A3C4-354C-292D-8D97-C6C13DE518A4}"/>
              </a:ext>
            </a:extLst>
          </p:cNvPr>
          <p:cNvSpPr txBox="1">
            <a:spLocks/>
          </p:cNvSpPr>
          <p:nvPr/>
        </p:nvSpPr>
        <p:spPr>
          <a:xfrm>
            <a:off x="291307" y="247975"/>
            <a:ext cx="7890717" cy="608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QUE ES 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HTTP Y HTTPS</a:t>
            </a:r>
          </a:p>
        </p:txBody>
      </p:sp>
      <p:sp>
        <p:nvSpPr>
          <p:cNvPr id="5" name="Google Shape;117;p16">
            <a:extLst>
              <a:ext uri="{FF2B5EF4-FFF2-40B4-BE49-F238E27FC236}">
                <a16:creationId xmlns:a16="http://schemas.microsoft.com/office/drawing/2014/main" id="{83876B0A-2F34-86AF-BDCB-CC01AC0E77BD}"/>
              </a:ext>
            </a:extLst>
          </p:cNvPr>
          <p:cNvSpPr txBox="1"/>
          <p:nvPr/>
        </p:nvSpPr>
        <p:spPr>
          <a:xfrm>
            <a:off x="291307" y="780901"/>
            <a:ext cx="8497055" cy="2303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HTTP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significa Hypertext Transfer Protocol o Protocolo de Transferencia de Hipertexto. Se trata del protocolo encargado de hacer posible el envío y recepción de información desde un servidor, hasta nuestros ordenadores mediante el navegador de páginas web.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HTTPS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</a:t>
            </a:r>
            <a:r>
              <a:rPr lang="es-MX" sz="1450" noProof="1">
                <a:solidFill>
                  <a:schemeClr val="tx1"/>
                </a:solidFill>
                <a:latin typeface="Barlow" pitchFamily="2" charset="77"/>
              </a:rPr>
              <a:t>(HyperText Transfer Protocol Secure)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 la versión segura de HTTP, con la diferencia fundamental de que los datos de la transacción entre el cliente y el servidor están cifrados.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409747-C865-E37C-5730-73F530470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676" y="2228054"/>
            <a:ext cx="3998124" cy="2829029"/>
          </a:xfrm>
          <a:prstGeom prst="rect">
            <a:avLst/>
          </a:prstGeom>
        </p:spPr>
      </p:pic>
      <p:sp>
        <p:nvSpPr>
          <p:cNvPr id="6" name="Google Shape;89;p16">
            <a:extLst>
              <a:ext uri="{FF2B5EF4-FFF2-40B4-BE49-F238E27FC236}">
                <a16:creationId xmlns:a16="http://schemas.microsoft.com/office/drawing/2014/main" id="{10F2BB2B-FA97-9DA2-FCF3-E33342BC4076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7" name="Google Shape;88;p16">
            <a:extLst>
              <a:ext uri="{FF2B5EF4-FFF2-40B4-BE49-F238E27FC236}">
                <a16:creationId xmlns:a16="http://schemas.microsoft.com/office/drawing/2014/main" id="{59859FD9-528C-EA6D-176A-58C4044A9722}"/>
              </a:ext>
            </a:extLst>
          </p:cNvPr>
          <p:cNvSpPr/>
          <p:nvPr/>
        </p:nvSpPr>
        <p:spPr>
          <a:xfrm>
            <a:off x="7305724" y="2653687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9" name="Picture 2" descr="mTLS Explained | Beeceptor">
            <a:extLst>
              <a:ext uri="{FF2B5EF4-FFF2-40B4-BE49-F238E27FC236}">
                <a16:creationId xmlns:a16="http://schemas.microsoft.com/office/drawing/2014/main" id="{0B614BB9-669D-73F3-807B-D2927DA37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264" y="2774939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4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421474D-8127-CA9B-B39A-2195023C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E0389FCA-9FB6-F7C6-6E60-3A1098B60F1F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F26E46D-06EE-90CC-45F1-3DD72E78D2F1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42873A3-5713-2EDD-FC0F-518D8888B72B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7D99C21A-AE6B-5F73-816F-35C0B6179BC0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CEB9742B-A18D-AD80-0B05-85B0F47EE6C9}"/>
              </a:ext>
            </a:extLst>
          </p:cNvPr>
          <p:cNvSpPr txBox="1"/>
          <p:nvPr/>
        </p:nvSpPr>
        <p:spPr>
          <a:xfrm>
            <a:off x="275213" y="1102925"/>
            <a:ext cx="6836852" cy="300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SSL (</a:t>
            </a:r>
            <a:r>
              <a:rPr lang="es-MX" dirty="0"/>
              <a:t>Secure Sockets Layer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):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es una tecnología estandarizada que permite cifrar el tráfico de datos entre un navegador web y un sitio web (o entre dos servidores web), protegiendo así la conexión. Esto impide que un hacker pueda ver o interceptar la información que se transmite de un punto a otro, la cual puede contener datos personales o financieros.</a:t>
            </a:r>
          </a:p>
          <a:p>
            <a:pPr algn="just"/>
            <a:endParaRPr lang="es-MX" sz="1450" b="1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TLS (</a:t>
            </a:r>
            <a:r>
              <a:rPr lang="es-MX" sz="1450" noProof="1">
                <a:solidFill>
                  <a:schemeClr val="tx1"/>
                </a:solidFill>
                <a:latin typeface="Barlow" pitchFamily="2" charset="77"/>
              </a:rPr>
              <a:t>Secure Sockets Layer</a:t>
            </a:r>
            <a:r>
              <a:rPr lang="es-MX" sz="1450" b="1" noProof="1">
                <a:solidFill>
                  <a:schemeClr val="tx1"/>
                </a:solidFill>
                <a:latin typeface="Barlow" pitchFamily="2" charset="77"/>
              </a:rPr>
              <a:t>)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 una versión actualizada y más segura de SSL. Aunque seguimos refiriéndonos a nuestros certificados de seguridad como «certificados SSL» porque ese es el término más extendido, Actualmente se utiliza la tecnología TLS más moderna y de plena confianza.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aparecen las letras HTTPS al principio de la dirección (URL) de un sitio web, dicho sitio está protegido por un certificado SSL o TLS.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HTTP + TLS = </a:t>
            </a:r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HTTPS.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2C8CE215-4156-E3A3-980A-CC2D980354F3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QUE ES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SSL Y 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E2134A85-E1CD-81C5-7795-402824422D91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1026" name="Picture 2" descr="mTLS Explained | Beeceptor">
            <a:extLst>
              <a:ext uri="{FF2B5EF4-FFF2-40B4-BE49-F238E27FC236}">
                <a16:creationId xmlns:a16="http://schemas.microsoft.com/office/drawing/2014/main" id="{C82CDED1-F2B4-4665-9C58-09EF10234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C1D5A7-BA9C-BBAA-049B-D16BD78A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04F074A5-8FA2-6B27-A3CD-EF21B8ACFAD6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1720E7F-850B-4860-13C2-0F139383F4CC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86BCA19-FFA0-343D-61D7-728DFF8A3F7E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F3E9896D-DA0B-6303-8870-9CC5422896FA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762928ED-D056-AA7E-34D1-DADBC2C42BDA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TLS</a:t>
            </a:r>
          </a:p>
        </p:txBody>
      </p:sp>
      <p:pic>
        <p:nvPicPr>
          <p:cNvPr id="4" name="Picture 2" descr="mTLS Explained | Beeceptor">
            <a:extLst>
              <a:ext uri="{FF2B5EF4-FFF2-40B4-BE49-F238E27FC236}">
                <a16:creationId xmlns:a16="http://schemas.microsoft.com/office/drawing/2014/main" id="{48ACE9AD-00BC-D779-0945-E0B1F9DFA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E56335-8CC8-7635-A218-0E2DAC268A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33"/>
          <a:stretch>
            <a:fillRect/>
          </a:stretch>
        </p:blipFill>
        <p:spPr>
          <a:xfrm>
            <a:off x="367761" y="1093068"/>
            <a:ext cx="6877190" cy="311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5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BE4D96E-BCEF-32D6-DC00-07AA710E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61370C92-CBA5-017E-D24E-AB8C5E117BE4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37BE93DD-9AFD-4948-AE01-13B7BFA87F59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D943993-B498-CF5D-537D-6AE889C26C02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88B5BD3F-CF87-72E3-5C04-5B82B42E6163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F0A18286-7ED0-3766-9FEA-104002911E86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mTLS </a:t>
            </a:r>
          </a:p>
        </p:txBody>
      </p:sp>
      <p:pic>
        <p:nvPicPr>
          <p:cNvPr id="4" name="Picture 2" descr="mTLS Explained | Beeceptor">
            <a:extLst>
              <a:ext uri="{FF2B5EF4-FFF2-40B4-BE49-F238E27FC236}">
                <a16:creationId xmlns:a16="http://schemas.microsoft.com/office/drawing/2014/main" id="{1FA00191-0850-FD9E-6523-B2A888664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D47B310-B321-3017-39A0-D21554347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49" y="1169596"/>
            <a:ext cx="6914202" cy="29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0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892962F-5FBB-3AE6-791B-568964DC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81482FA0-7D7C-3E0C-4678-57C8A8273FDA}"/>
              </a:ext>
            </a:extLst>
          </p:cNvPr>
          <p:cNvSpPr/>
          <p:nvPr/>
        </p:nvSpPr>
        <p:spPr>
          <a:xfrm>
            <a:off x="7585025" y="2072480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959BA256-63F9-975D-BE67-DE78ACAC7200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659DB0BB-EF69-4516-6967-0E68DE8E710C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FA11592D-C0FF-4699-7000-CCD5366B8CC1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4961D79C-3E5C-BDE5-E8C4-14ECC4253382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VERSIONES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SSL / TLS </a:t>
            </a:r>
          </a:p>
        </p:txBody>
      </p:sp>
      <p:pic>
        <p:nvPicPr>
          <p:cNvPr id="4" name="Picture 2" descr="mTLS Explained | Beeceptor">
            <a:extLst>
              <a:ext uri="{FF2B5EF4-FFF2-40B4-BE49-F238E27FC236}">
                <a16:creationId xmlns:a16="http://schemas.microsoft.com/office/drawing/2014/main" id="{9086B6AA-961C-4EA4-1144-82C20BF3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564" y="2234488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98CE4E-C510-B670-19E2-89AC4B9ED5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1" t="3529" b="22678"/>
          <a:stretch>
            <a:fillRect/>
          </a:stretch>
        </p:blipFill>
        <p:spPr>
          <a:xfrm>
            <a:off x="172999" y="1183729"/>
            <a:ext cx="7323176" cy="322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47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06AADCB-4737-E806-3A1B-F5EC01C5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B1334339-0BDB-9E08-DA46-75AF1D589C30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43110C9F-B07D-A123-1A66-5550028CDE26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4126ECB0-D301-D92D-14FA-6B98211DDED5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211B74CF-517B-3F58-6871-6497CDD32412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9541841D-4AFA-4874-B60F-1C68E6BFFF42}"/>
              </a:ext>
            </a:extLst>
          </p:cNvPr>
          <p:cNvSpPr txBox="1"/>
          <p:nvPr/>
        </p:nvSpPr>
        <p:spPr>
          <a:xfrm>
            <a:off x="355638" y="1082235"/>
            <a:ext cx="8081727" cy="3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1: Client Hello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El cliente indica que se requiere usar TLS.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Se envia las versiones TLS que soporta.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Se envia los algoritmos de cifrado que puede usar.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Y el dominio al que se requiere conectar.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2: Server Hello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El server indica que versión de TLS y que algoritmo se usara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Por Ejemplo: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TLS 1.3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Algun conjunto de cifrado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El cliente y servidor empiezan a ponerse de acuerdo.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BA3357F9-32EB-FC31-C2FC-4B5DA906A59C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42ABDA15-F6BC-A147-25C2-18AB19311909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TLS Explained | Beeceptor">
            <a:extLst>
              <a:ext uri="{FF2B5EF4-FFF2-40B4-BE49-F238E27FC236}">
                <a16:creationId xmlns:a16="http://schemas.microsoft.com/office/drawing/2014/main" id="{D4CE82EA-65AA-DC93-AD29-87B8AAAE5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478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7AB63D6-86FB-F220-EDF6-53068E01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75AB8F13-3D94-0C9C-175E-521AE04EE0BA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290C756-F5F6-5BDB-D717-DACF85707D62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83E5FD5C-0A53-D177-D74B-1D7BB72CFE32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BDBD8E5F-78BA-22D5-7B89-7FF58D9619F9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E5F7584B-E8AA-1DFD-539B-7636186C1DF3}"/>
              </a:ext>
            </a:extLst>
          </p:cNvPr>
          <p:cNvSpPr txBox="1"/>
          <p:nvPr/>
        </p:nvSpPr>
        <p:spPr>
          <a:xfrm>
            <a:off x="355638" y="1082235"/>
            <a:ext cx="8081727" cy="3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3: El servidor manda certificado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Por ejemplo: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Este servidor pertenece a customer-service.banco.com.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Fue emitido por esta 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 válido desde esta fecha hasta esta fecha.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Esta es su clave pública.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4: El cliente valida certificado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Por ejemplo verifica: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el certificado no está vencido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el dominio coincide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fue firmado por una CA confiable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la cadena de certificados está completa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el certificado no fue revocado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3574E1D6-A866-6C2D-3A8C-63DF1C6283B0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61B0A677-DA2C-7926-C9B1-85453FDACF81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TLS Explained | Beeceptor">
            <a:extLst>
              <a:ext uri="{FF2B5EF4-FFF2-40B4-BE49-F238E27FC236}">
                <a16:creationId xmlns:a16="http://schemas.microsoft.com/office/drawing/2014/main" id="{76C7B12B-5BCA-04CF-5993-D9E260325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52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BCEB02B-5D40-B939-CC6A-81895675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3EA3CD13-77A3-F527-17D1-D8CC313FBCA1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F5C09D3-F548-5266-C6D5-C935C2536D75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DA9EEB03-F2B5-B80D-9224-5C4C725CA14D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2F9DA9C0-C1A1-3D36-D5F9-AB83EC5E946A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7F895E23-90AA-226B-05B6-3C296B7A7906}"/>
              </a:ext>
            </a:extLst>
          </p:cNvPr>
          <p:cNvSpPr txBox="1"/>
          <p:nvPr/>
        </p:nvSpPr>
        <p:spPr>
          <a:xfrm>
            <a:off x="355638" y="1082235"/>
            <a:ext cx="8081727" cy="3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3: Se acuerda una clave segura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Después de validar el certificado, cliente y servidor hacen un proceso criptográfico para crear una clave temporal.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Esa clave se llama clave de sesión y sirve para cifrar los datos durante esa conexión.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No se usa la misma clave para siempre.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Se crea una clave temporal para esa sesión.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Después del handshake, ahora sí viaja el request HTTP protegido por TLS.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Entonces importante revisar que: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al validar certificado → problema de truststore.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porque el certificado venció → renovar certificado.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porque el dominio no coincide → revisar SAN/hostname.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porque no soportan la misma versión TLS → revisar TLS 1.2 / 1.3.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en mTLS porque no mandaste certificado → revisar keystore cliente.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BD515E0E-94F7-9CFC-673E-7781BC9B4408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E84182BE-EC5D-DCAF-F149-1D7FC355451A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TLS Explained | Beeceptor">
            <a:extLst>
              <a:ext uri="{FF2B5EF4-FFF2-40B4-BE49-F238E27FC236}">
                <a16:creationId xmlns:a16="http://schemas.microsoft.com/office/drawing/2014/main" id="{9D677523-743F-99D6-8CA2-D1F9C95A0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20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C6EAF93-11A4-4EF1-D0D7-F6D1AB48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51DF4ECB-250C-49C3-C357-40893C1DC27A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A7C31F86-16AA-E83A-4D28-24A452AF1102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81997A2A-483B-4FBD-D0BE-46C1352EE9AB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50926668-BE4A-73A4-B023-0346BEB8474A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2CF92E14-DDAE-E059-268C-FFAE7FDC6DF4}"/>
              </a:ext>
            </a:extLst>
          </p:cNvPr>
          <p:cNvSpPr txBox="1"/>
          <p:nvPr/>
        </p:nvSpPr>
        <p:spPr>
          <a:xfrm>
            <a:off x="324423" y="1331478"/>
            <a:ext cx="6787642" cy="270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Un 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Certificado digital SSL/TLS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 el protocolo de seguridad más utilizado que permite realizar una transferencia de datos de manera cifrada entre un servidor web y un navegador.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Las 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Autoridades Certificadoras (CA)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son las encargadas de validar, emitir y revocar lo certificados de la misma forma que un gobierno emite documentos oficiales como el DNI o pasaporte. 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Las Autoridades Certificadoras deben seguir unas reglas y políticas muy estrictas a la hora de decidir quién puede o no recibir un certificado y por ello, contar con un certificado emitido por una CA es un paso indispensable para asegurar la confiabilidad del sitio web.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53146710-89D3-CD49-FC98-8738DF85F5AD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CERTIFICADOS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SSL / 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0409D755-F383-514A-2C8C-FDEF3FF90815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TLS Explained | Beeceptor">
            <a:extLst>
              <a:ext uri="{FF2B5EF4-FFF2-40B4-BE49-F238E27FC236}">
                <a16:creationId xmlns:a16="http://schemas.microsoft.com/office/drawing/2014/main" id="{3A4D0665-EE85-5DD6-5E04-FE74CC398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66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83B236-1E44-715D-A6A7-4B71BD35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5EC45D74-55E4-BEF3-FB08-72756714A581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B8833B8-E541-E753-F72C-87D3E43B29EB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40E3BA5-91F5-47FD-3F4D-1D51B33FE8E7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8F8E1A58-EAD4-ACFF-CC31-FEC311D965BB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C047956A-25CF-9C2D-9038-A27BD20CDF07}"/>
              </a:ext>
            </a:extLst>
          </p:cNvPr>
          <p:cNvSpPr txBox="1"/>
          <p:nvPr/>
        </p:nvSpPr>
        <p:spPr>
          <a:xfrm>
            <a:off x="314700" y="920645"/>
            <a:ext cx="8537992" cy="389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Subject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indica para quién fue emitido el certificado, por ejemplo api.banco.com.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Issuer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indica quién emitió o firmó el certificado, por ejemplo una CA como DigiCert o Banco Internal CA.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Serial Number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identificador único del certificado; sirve para rastrearlo, auditarlo o revocarlo.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Validity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indica el periodo de validez del certificado, desde qué fecha hasta qué fecha funciona.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Public Key: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clave pública del certificado; se usa durante TLS para validar identidad y ayudar a establecer la comunicación segura.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Signature Algorithm: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algoritmo usado por la CA para firmar el certificado, por ejemplo SHA256withRSA.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SAN: Subject Alternative Name;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lista los dominios o IPs para los que el certificado es válido, por ejemplo DNS:api.banco.com.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Certificate Chain: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cadena de certificados que conecta el certificado del servidor con una CA confiable.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3E19A3EA-AB72-EC92-25E6-1110C0BE65FA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CERTIFICADOS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SSL / TLS</a:t>
            </a:r>
          </a:p>
        </p:txBody>
      </p:sp>
    </p:spTree>
    <p:extLst>
      <p:ext uri="{BB962C8B-B14F-4D97-AF65-F5344CB8AC3E}">
        <p14:creationId xmlns:p14="http://schemas.microsoft.com/office/powerpoint/2010/main" val="255264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D6BBE6E-2A8D-3E2E-39CD-2A241FB5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EDA1D397-BA41-AB90-438A-0A939A0A8280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FFA509B6-770A-C175-10EC-9D696E13DD1A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14A0991-1540-6640-8219-10D6F94603DA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08772C47-85B9-C641-9960-A09E04DF6008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08C5B007-A8E9-79F1-58AD-2AE9090166A6}"/>
              </a:ext>
            </a:extLst>
          </p:cNvPr>
          <p:cNvSpPr txBox="1"/>
          <p:nvPr/>
        </p:nvSpPr>
        <p:spPr>
          <a:xfrm>
            <a:off x="291308" y="745257"/>
            <a:ext cx="7675570" cy="56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Un 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keystore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guarda la identidad de una aplicación (Quien soy)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Un 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truststore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guarda certificados confiables.(En quien confio).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B31ABF28-2FF0-3D1E-7C78-FFEE012EE65C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8395492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KEYSTORE Y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TRUSTSTORE</a:t>
            </a:r>
          </a:p>
        </p:txBody>
      </p:sp>
      <p:sp>
        <p:nvSpPr>
          <p:cNvPr id="4" name="Google Shape;88;p16">
            <a:extLst>
              <a:ext uri="{FF2B5EF4-FFF2-40B4-BE49-F238E27FC236}">
                <a16:creationId xmlns:a16="http://schemas.microsoft.com/office/drawing/2014/main" id="{5CDE8BCA-4281-8B66-6060-B678CF3C8E68}"/>
              </a:ext>
            </a:extLst>
          </p:cNvPr>
          <p:cNvSpPr/>
          <p:nvPr/>
        </p:nvSpPr>
        <p:spPr>
          <a:xfrm>
            <a:off x="7592008" y="2072480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ontar un servidor de pruebas de SonarQube en Dev Containers y GitHub  Codespaces - return(GiS);">
            <a:extLst>
              <a:ext uri="{FF2B5EF4-FFF2-40B4-BE49-F238E27FC236}">
                <a16:creationId xmlns:a16="http://schemas.microsoft.com/office/drawing/2014/main" id="{BA8F5411-4117-C8A8-71C7-F09674E0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980" y="2072480"/>
            <a:ext cx="1328928" cy="132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F8E6150-BFBB-0D3A-1B23-130C1EA83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266865"/>
              </p:ext>
            </p:extLst>
          </p:nvPr>
        </p:nvGraphicFramePr>
        <p:xfrm>
          <a:off x="355638" y="1493782"/>
          <a:ext cx="85429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666">
                  <a:extLst>
                    <a:ext uri="{9D8B030D-6E8A-4147-A177-3AD203B41FA5}">
                      <a16:colId xmlns:a16="http://schemas.microsoft.com/office/drawing/2014/main" val="450551808"/>
                    </a:ext>
                  </a:extLst>
                </a:gridCol>
                <a:gridCol w="2847666">
                  <a:extLst>
                    <a:ext uri="{9D8B030D-6E8A-4147-A177-3AD203B41FA5}">
                      <a16:colId xmlns:a16="http://schemas.microsoft.com/office/drawing/2014/main" val="3082363947"/>
                    </a:ext>
                  </a:extLst>
                </a:gridCol>
                <a:gridCol w="2847666">
                  <a:extLst>
                    <a:ext uri="{9D8B030D-6E8A-4147-A177-3AD203B41FA5}">
                      <a16:colId xmlns:a16="http://schemas.microsoft.com/office/drawing/2014/main" val="338069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Característica técnica</a:t>
                      </a:r>
                      <a:endParaRPr lang="es-MX" baseline="0" dirty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Keystore (Identidad)</a:t>
                      </a:r>
                      <a:endParaRPr lang="es-MX" baseline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Truststore (Confianza)</a:t>
                      </a:r>
                      <a:endParaRPr lang="es-MX" baseline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466512518"/>
                  </a:ext>
                </a:extLst>
              </a:tr>
              <a:tr h="6663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Propósito</a:t>
                      </a:r>
                      <a:endParaRPr lang="es-MX" baseline="0" dirty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Demostrar criptográficamente quién es tu microservicio.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Determinar que certificados acepta mi microservicio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43826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Contenido Técnico</a:t>
                      </a:r>
                      <a:endParaRPr lang="es-MX" baseline="0" dirty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Contiene </a:t>
                      </a: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Tu Llave Privada </a:t>
                      </a: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+ Tu Certificado Público.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Contiene </a:t>
                      </a: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solo Certificados Públicos</a:t>
                      </a: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 (de Autoridades Certificadoras o de otros microservicios). 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109664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Uso en TLS Estándar</a:t>
                      </a:r>
                      <a:endParaRPr lang="es-MX" baseline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El </a:t>
                      </a: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Servidor</a:t>
                      </a: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 lo necesita para levantar el puerto HTTPS y presentar su certificado.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El </a:t>
                      </a: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Cliente</a:t>
                      </a: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 lo necesita para verificar que el certificado que le da el servidor es legítimo antes de enviar datos.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298264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85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49604AD-105D-EC26-572A-CC6DC49F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560A2C77-B12F-4CA3-DACD-63FF7660F689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F219D40-54B7-BFBC-B697-5B4E96D61FF0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C07AEF09-5F9E-F766-6E91-5015ACCEECF2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75B55AB3-6889-41DA-1C58-B9F26EB023B7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70B6296B-59EB-BACD-3DA3-F6FFB2715701}"/>
              </a:ext>
            </a:extLst>
          </p:cNvPr>
          <p:cNvSpPr txBox="1">
            <a:spLocks/>
          </p:cNvSpPr>
          <p:nvPr/>
        </p:nvSpPr>
        <p:spPr>
          <a:xfrm>
            <a:off x="291307" y="247975"/>
            <a:ext cx="8411839" cy="85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GENERACION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CERTICADOS – KEYTOOL VS OPENSSL</a:t>
            </a:r>
          </a:p>
        </p:txBody>
      </p:sp>
      <p:sp>
        <p:nvSpPr>
          <p:cNvPr id="4" name="Google Shape;88;p16">
            <a:extLst>
              <a:ext uri="{FF2B5EF4-FFF2-40B4-BE49-F238E27FC236}">
                <a16:creationId xmlns:a16="http://schemas.microsoft.com/office/drawing/2014/main" id="{A3E1974C-DB1A-6624-81E5-69416FDC7DEA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C3E388-0DF2-B850-5E29-295CA35F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03" y="1006160"/>
            <a:ext cx="6696718" cy="3770561"/>
          </a:xfrm>
          <a:prstGeom prst="rect">
            <a:avLst/>
          </a:prstGeom>
        </p:spPr>
      </p:pic>
      <p:pic>
        <p:nvPicPr>
          <p:cNvPr id="7" name="Picture 2" descr="mTLS Explained | Beeceptor">
            <a:extLst>
              <a:ext uri="{FF2B5EF4-FFF2-40B4-BE49-F238E27FC236}">
                <a16:creationId xmlns:a16="http://schemas.microsoft.com/office/drawing/2014/main" id="{56481DFC-03A6-CE1B-5702-06D6B69CA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35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99C6EDB-B916-D6E8-F9AC-5A70C90E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FC694E3D-3C0D-4063-1AC9-0671CF799670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11AAC71A-B49A-AC6E-EED5-BBDDCE49511F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F1D0982-871E-7489-13DF-262F6DC73B3A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65AFFFC2-D578-586C-CEC4-ED28BC443A1F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7E1EA3F3-146F-11DB-BC79-C65AC04C28B0}"/>
              </a:ext>
            </a:extLst>
          </p:cNvPr>
          <p:cNvSpPr txBox="1">
            <a:spLocks/>
          </p:cNvSpPr>
          <p:nvPr/>
        </p:nvSpPr>
        <p:spPr>
          <a:xfrm>
            <a:off x="291307" y="247975"/>
            <a:ext cx="8411839" cy="85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GENERACION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CERTICADOS – KEYTOOL VS OPENSSL</a:t>
            </a:r>
          </a:p>
        </p:txBody>
      </p:sp>
      <p:sp>
        <p:nvSpPr>
          <p:cNvPr id="4" name="Google Shape;88;p16">
            <a:extLst>
              <a:ext uri="{FF2B5EF4-FFF2-40B4-BE49-F238E27FC236}">
                <a16:creationId xmlns:a16="http://schemas.microsoft.com/office/drawing/2014/main" id="{FDB22440-C0E7-1309-3BFD-985A3187F3C0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7" name="Picture 2" descr="mTLS Explained | Beeceptor">
            <a:extLst>
              <a:ext uri="{FF2B5EF4-FFF2-40B4-BE49-F238E27FC236}">
                <a16:creationId xmlns:a16="http://schemas.microsoft.com/office/drawing/2014/main" id="{E1168098-891D-BA28-04B2-36B3A8047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B6414B7-BA4D-F00C-8DF3-332589A3C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37" y="978354"/>
            <a:ext cx="6701767" cy="3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6306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15109</TotalTime>
  <Words>969</Words>
  <Application>Microsoft Macintosh PowerPoint</Application>
  <PresentationFormat>Presentación en pantalla (16:9)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Barlow Medium</vt:lpstr>
      <vt:lpstr>Arial</vt:lpstr>
      <vt:lpstr>Barlow ExtraLight</vt:lpstr>
      <vt:lpstr>Barlow ExtraBold</vt:lpstr>
      <vt:lpstr>Barlow</vt:lpstr>
      <vt:lpstr>Simple Light</vt:lpstr>
      <vt:lpstr>Simple Light</vt:lpstr>
      <vt:lpstr>SSL/TLS MTLS HTTPS EN MICROSERVICIOS Tema.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PROYECTOS CERRADOS</dc:title>
  <cp:lastModifiedBy>CHRISTIAN HERNANDEZ  ALTAMIRANO</cp:lastModifiedBy>
  <cp:revision>331</cp:revision>
  <dcterms:modified xsi:type="dcterms:W3CDTF">2026-05-12T03:12:21Z</dcterms:modified>
</cp:coreProperties>
</file>