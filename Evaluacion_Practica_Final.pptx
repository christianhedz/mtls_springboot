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3"/>
  </p:notesMasterIdLst>
  <p:sldIdLst>
    <p:sldId id="256" r:id="rId3"/>
    <p:sldId id="259" r:id="rId4"/>
    <p:sldId id="282" r:id="rId5"/>
    <p:sldId id="277" r:id="rId6"/>
    <p:sldId id="285" r:id="rId7"/>
    <p:sldId id="286" r:id="rId8"/>
    <p:sldId id="267" r:id="rId9"/>
    <p:sldId id="283" r:id="rId10"/>
    <p:sldId id="268" r:id="rId11"/>
    <p:sldId id="284" r:id="rId12"/>
  </p:sldIdLst>
  <p:sldSz cx="9144000" cy="5143500" type="screen16x9"/>
  <p:notesSz cx="6858000" cy="9144000"/>
  <p:embeddedFontLst>
    <p:embeddedFont>
      <p:font typeface="Barlow" pitchFamily="2" charset="77"/>
      <p:regular r:id="rId14"/>
      <p:bold r:id="rId15"/>
      <p:italic r:id="rId16"/>
      <p:boldItalic r:id="rId17"/>
    </p:embeddedFont>
    <p:embeddedFont>
      <p:font typeface="Barlow ExtraBold" panose="00000900000000000000" pitchFamily="2" charset="77"/>
      <p:bold r:id="rId18"/>
      <p:italic r:id="rId19"/>
      <p:boldItalic r:id="rId20"/>
    </p:embeddedFont>
    <p:embeddedFont>
      <p:font typeface="Barlow ExtraLight" panose="00000300000000000000" pitchFamily="2" charset="77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5"/>
    <p:restoredTop sz="94687"/>
  </p:normalViewPr>
  <p:slideViewPr>
    <p:cSldViewPr snapToGrid="0">
      <p:cViewPr varScale="1">
        <p:scale>
          <a:sx n="150" d="100"/>
          <a:sy n="150" d="100"/>
        </p:scale>
        <p:origin x="168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1.fntdata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a4d04bd8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101" name="Google Shape;101;g2a4d04bd85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47230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8F89F-B635-32B7-67C9-870282F11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8A5B3F0-0BD5-2ACB-27E6-90501D657F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MX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2D9F177-640E-E9D2-8C29-C5F65F871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20408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C7ADB-5B8B-BEEC-FC1A-F625DC7BF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59AF622-B392-AC0E-F3EE-D0B2A03CF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MX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4814FDD-F31F-B04A-1307-A213140CF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17557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8F83B-AE7B-89BD-161D-9B389F60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3719682-F760-62B2-FC69-2603AC279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MX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24BBCD2-D5A5-2E72-6858-870025C6C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27978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132A9-76C9-4792-B396-23A6DBD7E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FCB886B-DEBE-B951-F2A6-BC28D85EB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MX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006238A-C7C1-7C0A-6BF6-4D395EC2B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37963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807FA-5F59-7955-8469-9C001CDD9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D653E96-AA6B-EB97-F1BB-19EB6E3AE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MX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F6F41FD-F317-B401-70BC-33DE0B282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835250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8D1A1-5EF1-F5F3-F262-E91D09981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3BDD2E1-29C7-055F-AF73-183F96E6C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MX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F7DE2B3-30A4-4918-AD1F-7D574A598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316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9941F-BB8D-2D90-9FCD-84FA5CD23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72C6F3A-87DD-2026-2184-B7E80E256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MX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F0917E7-BC14-2F7D-E34A-4C0A0736F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96958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04A3E-0090-AD23-ABD9-BBF682AE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EAA33F7-8076-187E-C4D8-CDF61151A9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MX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45591AF-A7A5-9C17-7ECF-475A7CDB6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8257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174801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Barlow ExtraBold"/>
              <a:buNone/>
              <a:defRPr sz="5200">
                <a:solidFill>
                  <a:schemeClr val="lt1"/>
                </a:solidFill>
                <a:latin typeface="Barlow ExtraBold"/>
                <a:ea typeface="Barlow ExtraBold"/>
                <a:cs typeface="Barlow ExtraBold"/>
                <a:sym typeface="Barlow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1618800" y="1567425"/>
            <a:ext cx="5906400" cy="5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cxnSp>
        <p:nvCxnSpPr>
          <p:cNvPr id="58" name="Google Shape;58;p14"/>
          <p:cNvCxnSpPr/>
          <p:nvPr/>
        </p:nvCxnSpPr>
        <p:spPr>
          <a:xfrm>
            <a:off x="559825" y="4144350"/>
            <a:ext cx="7985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" name="Google Shape;59;p14"/>
          <p:cNvSpPr txBox="1"/>
          <p:nvPr/>
        </p:nvSpPr>
        <p:spPr>
          <a:xfrm rot="-5400000">
            <a:off x="-922500" y="922488"/>
            <a:ext cx="22083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1"/>
                </a:solidFill>
                <a:latin typeface="Barlow ExtraLight"/>
                <a:ea typeface="Barlow ExtraLight"/>
                <a:cs typeface="Barlow ExtraLight"/>
                <a:sym typeface="Barlow ExtraLight"/>
              </a:rPr>
              <a:t>www.asteci-digital-factory.com.mx</a:t>
            </a:r>
            <a:endParaRPr sz="1000">
              <a:solidFill>
                <a:schemeClr val="lt1"/>
              </a:solidFill>
              <a:latin typeface="Barlow ExtraLight"/>
              <a:ea typeface="Barlow ExtraLight"/>
              <a:cs typeface="Barlow ExtraLight"/>
              <a:sym typeface="Barlow Extra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" name="Google Shape;95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/>
          <p:nvPr/>
        </p:nvSpPr>
        <p:spPr>
          <a:xfrm rot="10800000">
            <a:off x="0" y="3883414"/>
            <a:ext cx="9144000" cy="1314900"/>
          </a:xfrm>
          <a:prstGeom prst="rect">
            <a:avLst/>
          </a:prstGeom>
          <a:gradFill>
            <a:gsLst>
              <a:gs pos="0">
                <a:srgbClr val="0B5394">
                  <a:alpha val="79607"/>
                </a:srgbClr>
              </a:gs>
              <a:gs pos="100000">
                <a:srgbClr val="213184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106" name="Google Shape;106;p25"/>
          <p:cNvSpPr txBox="1">
            <a:spLocks noGrp="1"/>
          </p:cNvSpPr>
          <p:nvPr>
            <p:ph type="ctrTitle"/>
          </p:nvPr>
        </p:nvSpPr>
        <p:spPr>
          <a:xfrm>
            <a:off x="1904998" y="1443052"/>
            <a:ext cx="5630335" cy="19351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SzPts val="990"/>
            </a:pPr>
            <a:r>
              <a:rPr lang="es-MX" sz="4800" noProof="1">
                <a:solidFill>
                  <a:schemeClr val="lt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EVALUACION FINAL DEV JAVA</a:t>
            </a:r>
            <a:br>
              <a:rPr lang="es-MX" sz="4800" noProof="1">
                <a:solidFill>
                  <a:schemeClr val="lt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</a:br>
            <a:r>
              <a:rPr lang="es-MX" sz="1200" noProof="1">
                <a:solidFill>
                  <a:schemeClr val="lt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Caso Practico.</a:t>
            </a:r>
          </a:p>
        </p:txBody>
      </p:sp>
      <p:pic>
        <p:nvPicPr>
          <p:cNvPr id="107" name="Google Shape;10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000" y="4262775"/>
            <a:ext cx="1349673" cy="7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5;p26">
            <a:extLst>
              <a:ext uri="{FF2B5EF4-FFF2-40B4-BE49-F238E27FC236}">
                <a16:creationId xmlns:a16="http://schemas.microsoft.com/office/drawing/2014/main" id="{89DA526F-D61E-B9A5-F073-D00AB3600A7A}"/>
              </a:ext>
            </a:extLst>
          </p:cNvPr>
          <p:cNvSpPr/>
          <p:nvPr/>
        </p:nvSpPr>
        <p:spPr>
          <a:xfrm>
            <a:off x="873800" y="452782"/>
            <a:ext cx="4932300" cy="9672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4" name="Google Shape;126;p26">
            <a:extLst>
              <a:ext uri="{FF2B5EF4-FFF2-40B4-BE49-F238E27FC236}">
                <a16:creationId xmlns:a16="http://schemas.microsoft.com/office/drawing/2014/main" id="{3F64EF95-5BA0-14CD-7A57-E22838F2AE53}"/>
              </a:ext>
            </a:extLst>
          </p:cNvPr>
          <p:cNvSpPr txBox="1">
            <a:spLocks/>
          </p:cNvSpPr>
          <p:nvPr/>
        </p:nvSpPr>
        <p:spPr>
          <a:xfrm>
            <a:off x="984675" y="659782"/>
            <a:ext cx="4821425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b="1" noProof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EVALUACION PRACTICA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881362F-2BAD-812C-6EA7-DEBA760D45A1}"/>
              </a:ext>
            </a:extLst>
          </p:cNvPr>
          <p:cNvSpPr txBox="1"/>
          <p:nvPr/>
        </p:nvSpPr>
        <p:spPr>
          <a:xfrm>
            <a:off x="746800" y="1713729"/>
            <a:ext cx="6500667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100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El caso practico constara de un proyecto de recompensar por transacciones en un banco. Este proyecto tendra tres microservicios para poder procesar, calcular y notificar puntos de recompensa por transacciones de usuarios.</a:t>
            </a: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  <a:p>
            <a:pPr lvl="0" algn="just">
              <a:buSzPts val="1100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Solo sera un Endpoint:</a:t>
            </a: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  <a:p>
            <a:pPr lvl="0" algn="just">
              <a:buSzPts val="1100"/>
            </a:pPr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  <a:sym typeface="Barlow Medium"/>
              </a:rPr>
              <a:t>POST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 /api/v1/rewards</a:t>
            </a: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  <a:p>
            <a:pPr lvl="0" algn="just">
              <a:buSzPts val="1100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Headers Obligatorios:</a:t>
            </a: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  <a:p>
            <a:pPr marL="285750" lvl="0" indent="-285750" algn="just">
              <a:buSzPts val="1100"/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X-Idempotency-Key: UUID </a:t>
            </a:r>
          </a:p>
          <a:p>
            <a:pPr marL="285750" lvl="0" indent="-285750" algn="just">
              <a:buSzPts val="1100"/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X-Channel: (MOBILE_APP, WEB_BANKING, POS_TERMINAL)</a:t>
            </a:r>
          </a:p>
        </p:txBody>
      </p:sp>
      <p:pic>
        <p:nvPicPr>
          <p:cNvPr id="5" name="Picture 4" descr="Spring Framework Logo Svg , Png Download - Java Spring - (504x362) Png ...">
            <a:extLst>
              <a:ext uri="{FF2B5EF4-FFF2-40B4-BE49-F238E27FC236}">
                <a16:creationId xmlns:a16="http://schemas.microsoft.com/office/drawing/2014/main" id="{6C991477-DFB4-928F-8F4B-1591DCD0C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8633" y="2323000"/>
            <a:ext cx="1111167" cy="79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2224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DBA0F-890A-E7F2-0313-DD2F49A9D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5;p26">
            <a:extLst>
              <a:ext uri="{FF2B5EF4-FFF2-40B4-BE49-F238E27FC236}">
                <a16:creationId xmlns:a16="http://schemas.microsoft.com/office/drawing/2014/main" id="{F4CCE17F-8CEF-0120-6DC6-24BA7E0454E6}"/>
              </a:ext>
            </a:extLst>
          </p:cNvPr>
          <p:cNvSpPr/>
          <p:nvPr/>
        </p:nvSpPr>
        <p:spPr>
          <a:xfrm>
            <a:off x="873800" y="452782"/>
            <a:ext cx="4932300" cy="9672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4" name="Google Shape;126;p26">
            <a:extLst>
              <a:ext uri="{FF2B5EF4-FFF2-40B4-BE49-F238E27FC236}">
                <a16:creationId xmlns:a16="http://schemas.microsoft.com/office/drawing/2014/main" id="{B0565E20-F137-5D4E-29A3-A3C5F89E604A}"/>
              </a:ext>
            </a:extLst>
          </p:cNvPr>
          <p:cNvSpPr txBox="1">
            <a:spLocks/>
          </p:cNvSpPr>
          <p:nvPr/>
        </p:nvSpPr>
        <p:spPr>
          <a:xfrm>
            <a:off x="984675" y="659782"/>
            <a:ext cx="4821425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b="1" noProof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EVALUACION PRACTICA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392495B-A2B0-F14E-428A-00E6DFE16E0F}"/>
              </a:ext>
            </a:extLst>
          </p:cNvPr>
          <p:cNvSpPr txBox="1"/>
          <p:nvPr/>
        </p:nvSpPr>
        <p:spPr>
          <a:xfrm>
            <a:off x="746800" y="1713729"/>
            <a:ext cx="6500667" cy="254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100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El primer MS sera el de la Capa API</a:t>
            </a: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  <a:p>
            <a:pPr lvl="0" algn="just">
              <a:buSzPts val="1100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Este debera recibir los siguientes valores:</a:t>
            </a: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  <a:p>
            <a:pPr marL="285750" lvl="0" indent="-285750" algn="just">
              <a:buSzPts val="1100"/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 transactionId: "TXN-20260520-001",</a:t>
            </a:r>
          </a:p>
          <a:p>
            <a:pPr marL="285750" lvl="0" indent="-285750" algn="just">
              <a:buSzPts val="1100"/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 accountId: "ACC-889922",</a:t>
            </a:r>
          </a:p>
          <a:p>
            <a:pPr marL="285750" lvl="0" indent="-285750" algn="just">
              <a:buSzPts val="1100"/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 amount: 1250.50,</a:t>
            </a:r>
          </a:p>
          <a:p>
            <a:pPr marL="285750" lvl="0" indent="-285750" algn="just">
              <a:buSzPts val="1100"/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 userTier: "GOLD",</a:t>
            </a:r>
          </a:p>
          <a:p>
            <a:pPr marL="285750" lvl="0" indent="-285750" algn="just">
              <a:buSzPts val="1100"/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 currency: "MXN",</a:t>
            </a:r>
          </a:p>
          <a:p>
            <a:pPr marL="285750" lvl="0" indent="-285750" algn="just">
              <a:buSzPts val="1100"/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 merchantCategoryCode: "5814",</a:t>
            </a:r>
          </a:p>
          <a:p>
            <a:pPr marL="285750" lvl="0" indent="-285750" algn="just">
              <a:buSzPts val="1100"/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 timestamp: "2026-05-20T16:00:00Z"</a:t>
            </a:r>
          </a:p>
        </p:txBody>
      </p:sp>
      <p:pic>
        <p:nvPicPr>
          <p:cNvPr id="5" name="Picture 4" descr="Spring Framework Logo Svg , Png Download - Java Spring - (504x362) Png ...">
            <a:extLst>
              <a:ext uri="{FF2B5EF4-FFF2-40B4-BE49-F238E27FC236}">
                <a16:creationId xmlns:a16="http://schemas.microsoft.com/office/drawing/2014/main" id="{B828A636-852A-DC06-D425-B22F3D8C6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8633" y="2323000"/>
            <a:ext cx="1111167" cy="79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2694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490EF-3E64-7B00-DB5E-7A3CEE942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5;p26">
            <a:extLst>
              <a:ext uri="{FF2B5EF4-FFF2-40B4-BE49-F238E27FC236}">
                <a16:creationId xmlns:a16="http://schemas.microsoft.com/office/drawing/2014/main" id="{75332356-5DE2-3C93-BC94-D1AD0315F25D}"/>
              </a:ext>
            </a:extLst>
          </p:cNvPr>
          <p:cNvSpPr/>
          <p:nvPr/>
        </p:nvSpPr>
        <p:spPr>
          <a:xfrm>
            <a:off x="873800" y="452782"/>
            <a:ext cx="4932300" cy="9672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4" name="Google Shape;126;p26">
            <a:extLst>
              <a:ext uri="{FF2B5EF4-FFF2-40B4-BE49-F238E27FC236}">
                <a16:creationId xmlns:a16="http://schemas.microsoft.com/office/drawing/2014/main" id="{49FFDBFA-CF6A-E56B-E183-9F588ABF2B9D}"/>
              </a:ext>
            </a:extLst>
          </p:cNvPr>
          <p:cNvSpPr txBox="1">
            <a:spLocks/>
          </p:cNvSpPr>
          <p:nvPr/>
        </p:nvSpPr>
        <p:spPr>
          <a:xfrm>
            <a:off x="984675" y="659782"/>
            <a:ext cx="4821425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b="1" noProof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EVALUACION PRACTICA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D37165B-5F48-6797-3AA5-32A12BD16F7D}"/>
              </a:ext>
            </a:extLst>
          </p:cNvPr>
          <p:cNvSpPr txBox="1"/>
          <p:nvPr/>
        </p:nvSpPr>
        <p:spPr>
          <a:xfrm>
            <a:off x="806066" y="1544396"/>
            <a:ext cx="8117801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100"/>
            </a:pPr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  <a:sym typeface="Barlow Medium"/>
              </a:rPr>
              <a:t>REGLAS:</a:t>
            </a: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  <a:p>
            <a:pPr lvl="0" algn="just">
              <a:buSzPts val="1100"/>
            </a:pPr>
            <a:r>
              <a:rPr lang="es-MX" sz="1450" b="1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REGLA DE CATEGORIA:</a:t>
            </a:r>
          </a:p>
          <a:p>
            <a:pPr marL="285750" lvl="0" indent="-285750" algn="just">
              <a:buSzPts val="1100"/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Se otorga 1 punto entero por cada 10 pesos MXN. Y  no hay puntos fraccionarios. Si el userTier del usuario es GOLD seran 2 puntos por cada 10, si es ESTÁNDAR sera solo un punto.</a:t>
            </a:r>
          </a:p>
          <a:p>
            <a:pPr marL="285750" lvl="0" indent="-285750" algn="just">
              <a:buSzPts val="1100"/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Si merchantCategoryCode es 5814 (Restaurantes) o 5411 (Supermercados) -&gt; Multiplicador de Categoría = 1.5</a:t>
            </a:r>
          </a:p>
          <a:p>
            <a:pPr marL="285750" lvl="0" indent="-285750" algn="just">
              <a:buSzPts val="1100"/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Cualquier otro código -&gt; Multiplicador de Categoría = 1.0</a:t>
            </a:r>
          </a:p>
          <a:p>
            <a:pPr lvl="0" algn="just">
              <a:buSzPts val="1100"/>
            </a:pPr>
            <a:r>
              <a:rPr lang="es-MX" sz="1450" b="1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REGLA DE TIEMPO:</a:t>
            </a:r>
          </a:p>
          <a:p>
            <a:pPr marL="285750" lvl="0" indent="-285750" algn="just">
              <a:buSzPts val="1100"/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Si el timestamp cae en Sábado o Domingo -&gt; Multiplicador de Día = 2.0</a:t>
            </a:r>
          </a:p>
          <a:p>
            <a:pPr marL="285750" lvl="0" indent="-285750" algn="just">
              <a:buSzPts val="1100"/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Cualquier otro día -&gt; Multiplicador de Día = 1.0</a:t>
            </a:r>
          </a:p>
          <a:p>
            <a:pPr lvl="0" algn="just">
              <a:buSzPts val="1100"/>
            </a:pPr>
            <a:r>
              <a:rPr lang="es-MX" sz="1450" b="1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REGLA DE CANAL:</a:t>
            </a:r>
          </a:p>
          <a:p>
            <a:pPr marL="285750" lvl="0" indent="-285750" algn="just">
              <a:buSzPts val="1100"/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Si X-Channel es MOBILE_APP -&gt; Bono Fijo = 50 puntos.</a:t>
            </a:r>
          </a:p>
          <a:p>
            <a:pPr marL="285750" lvl="0" indent="-285750" algn="just">
              <a:buSzPts val="1100"/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Otros canales -&gt; Bono Fijo = 0.</a:t>
            </a:r>
          </a:p>
        </p:txBody>
      </p:sp>
    </p:spTree>
    <p:extLst>
      <p:ext uri="{BB962C8B-B14F-4D97-AF65-F5344CB8AC3E}">
        <p14:creationId xmlns:p14="http://schemas.microsoft.com/office/powerpoint/2010/main" val="1878241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73070-685D-BE74-8CAA-A4E2217F8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5;p26">
            <a:extLst>
              <a:ext uri="{FF2B5EF4-FFF2-40B4-BE49-F238E27FC236}">
                <a16:creationId xmlns:a16="http://schemas.microsoft.com/office/drawing/2014/main" id="{167722CB-1900-7BCC-8160-7CE66F286485}"/>
              </a:ext>
            </a:extLst>
          </p:cNvPr>
          <p:cNvSpPr/>
          <p:nvPr/>
        </p:nvSpPr>
        <p:spPr>
          <a:xfrm>
            <a:off x="873800" y="452782"/>
            <a:ext cx="4932300" cy="9672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4" name="Google Shape;126;p26">
            <a:extLst>
              <a:ext uri="{FF2B5EF4-FFF2-40B4-BE49-F238E27FC236}">
                <a16:creationId xmlns:a16="http://schemas.microsoft.com/office/drawing/2014/main" id="{8F2D9C49-92B2-0349-ABAD-0907F1F670CB}"/>
              </a:ext>
            </a:extLst>
          </p:cNvPr>
          <p:cNvSpPr txBox="1">
            <a:spLocks/>
          </p:cNvSpPr>
          <p:nvPr/>
        </p:nvSpPr>
        <p:spPr>
          <a:xfrm>
            <a:off x="984675" y="659782"/>
            <a:ext cx="4821425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b="1" noProof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EVALUACION PRACTICA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128C01F-8195-FA31-1351-F9F50F1824D8}"/>
              </a:ext>
            </a:extLst>
          </p:cNvPr>
          <p:cNvSpPr txBox="1"/>
          <p:nvPr/>
        </p:nvSpPr>
        <p:spPr>
          <a:xfrm>
            <a:off x="806066" y="1858458"/>
            <a:ext cx="7110267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100"/>
            </a:pPr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  <a:sym typeface="Barlow Medium"/>
              </a:rPr>
              <a:t>REGLAS:</a:t>
            </a: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  <a:p>
            <a:pPr lvl="0" algn="just">
              <a:buSzPts val="1100"/>
            </a:pPr>
            <a:r>
              <a:rPr lang="es-MX" sz="1450" b="1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REGLAS DE NEGOCIO:</a:t>
            </a: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  <a:p>
            <a:pPr lvl="0" algn="just">
              <a:buSzPts val="1100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El motor debe consultar a MongoDB si existe una transacción procesada para el mismo accountId, en el mismo merchantCategoryCode, por el mismo monto exacto, en los últimos 5 minutos respecto al timestamp actual.</a:t>
            </a: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  <a:p>
            <a:pPr lvl="0" algn="just">
              <a:buSzPts val="1100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Acción: Si existe, la transacción actual NO genera puntos. Se guarda en base de datos con el estado REJECTED_DUPLICATE y el flujo termina aquí. Retorna HTTP 200 (la transacción fue procesada correctamente, pero el negocio decidió no dar puntos).</a:t>
            </a: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</p:txBody>
      </p:sp>
    </p:spTree>
    <p:extLst>
      <p:ext uri="{BB962C8B-B14F-4D97-AF65-F5344CB8AC3E}">
        <p14:creationId xmlns:p14="http://schemas.microsoft.com/office/powerpoint/2010/main" val="3124186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6DA60-8102-F674-5BA9-E4D602104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5;p26">
            <a:extLst>
              <a:ext uri="{FF2B5EF4-FFF2-40B4-BE49-F238E27FC236}">
                <a16:creationId xmlns:a16="http://schemas.microsoft.com/office/drawing/2014/main" id="{5D4A531A-C604-627E-586B-3D44CD7E71D8}"/>
              </a:ext>
            </a:extLst>
          </p:cNvPr>
          <p:cNvSpPr/>
          <p:nvPr/>
        </p:nvSpPr>
        <p:spPr>
          <a:xfrm>
            <a:off x="873800" y="452782"/>
            <a:ext cx="4932300" cy="9672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4" name="Google Shape;126;p26">
            <a:extLst>
              <a:ext uri="{FF2B5EF4-FFF2-40B4-BE49-F238E27FC236}">
                <a16:creationId xmlns:a16="http://schemas.microsoft.com/office/drawing/2014/main" id="{2444497D-F2E9-367E-51E5-BA1C16008B5B}"/>
              </a:ext>
            </a:extLst>
          </p:cNvPr>
          <p:cNvSpPr txBox="1">
            <a:spLocks/>
          </p:cNvSpPr>
          <p:nvPr/>
        </p:nvSpPr>
        <p:spPr>
          <a:xfrm>
            <a:off x="984675" y="659782"/>
            <a:ext cx="4821425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b="1" noProof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EVALUACION PRACTICA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3D85470-492C-02DB-A3CA-81E2F6D8F946}"/>
              </a:ext>
            </a:extLst>
          </p:cNvPr>
          <p:cNvSpPr txBox="1"/>
          <p:nvPr/>
        </p:nvSpPr>
        <p:spPr>
          <a:xfrm>
            <a:off x="806066" y="1840730"/>
            <a:ext cx="7110267" cy="254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100"/>
            </a:pPr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  <a:sym typeface="Barlow Medium"/>
              </a:rPr>
              <a:t>REGLAS:</a:t>
            </a: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  <a:p>
            <a:pPr lvl="0" algn="just">
              <a:buSzPts val="1100"/>
            </a:pPr>
            <a:r>
              <a:rPr lang="es-MX" sz="1450" b="1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REGLA DE RECOMPENSA EXTRA:</a:t>
            </a: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  <a:p>
            <a:pPr lvl="0" algn="just">
              <a:buSzPts val="1100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Sumar el total de puntos ganados por el usuario en el día actual supera los 1,000 puntos diarios, califica para un "Código de Cine VIP".</a:t>
            </a: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  <a:p>
            <a:pPr lvl="0" algn="just">
              <a:buSzPts val="1100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Pero el usuario solo puede ganar un codigo asi que tendras que verificar en la DB de si ya recibio un codigo en el MES o no. Y si no, entonces otorgarlo y cambiar el status a CLAIMED. Este codigo debera incluirse en el correo que enviara el microservicio de notificaciones. </a:t>
            </a:r>
          </a:p>
        </p:txBody>
      </p:sp>
    </p:spTree>
    <p:extLst>
      <p:ext uri="{BB962C8B-B14F-4D97-AF65-F5344CB8AC3E}">
        <p14:creationId xmlns:p14="http://schemas.microsoft.com/office/powerpoint/2010/main" val="2323887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27738-3C13-1D75-ACED-8906EAEC9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5;p26">
            <a:extLst>
              <a:ext uri="{FF2B5EF4-FFF2-40B4-BE49-F238E27FC236}">
                <a16:creationId xmlns:a16="http://schemas.microsoft.com/office/drawing/2014/main" id="{F4AF24C2-FA82-9CB8-C818-8BBBA0AFF37A}"/>
              </a:ext>
            </a:extLst>
          </p:cNvPr>
          <p:cNvSpPr/>
          <p:nvPr/>
        </p:nvSpPr>
        <p:spPr>
          <a:xfrm>
            <a:off x="873800" y="452782"/>
            <a:ext cx="4932300" cy="9672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4" name="Google Shape;126;p26">
            <a:extLst>
              <a:ext uri="{FF2B5EF4-FFF2-40B4-BE49-F238E27FC236}">
                <a16:creationId xmlns:a16="http://schemas.microsoft.com/office/drawing/2014/main" id="{BE8EFF3F-D56C-6BCE-F1E6-8FA7F9EC778E}"/>
              </a:ext>
            </a:extLst>
          </p:cNvPr>
          <p:cNvSpPr txBox="1">
            <a:spLocks/>
          </p:cNvSpPr>
          <p:nvPr/>
        </p:nvSpPr>
        <p:spPr>
          <a:xfrm>
            <a:off x="984675" y="659782"/>
            <a:ext cx="4821425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b="1" noProof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EVALUACION PRACTICA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D4331E9-6927-73C4-E9AC-EE6DA9A85512}"/>
              </a:ext>
            </a:extLst>
          </p:cNvPr>
          <p:cNvSpPr txBox="1"/>
          <p:nvPr/>
        </p:nvSpPr>
        <p:spPr>
          <a:xfrm>
            <a:off x="763733" y="1713729"/>
            <a:ext cx="6602267" cy="2993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100"/>
            </a:pPr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  <a:sym typeface="Barlow Medium"/>
              </a:rPr>
              <a:t>EN LA CAPA API:</a:t>
            </a: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  <a:p>
            <a:pPr lvl="0" algn="just">
              <a:buSzPts val="1100"/>
            </a:pPr>
            <a:r>
              <a:rPr lang="es-MX" sz="1450" b="1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REDIS:</a:t>
            </a:r>
          </a:p>
          <a:p>
            <a:pPr lvl="0" algn="just">
              <a:buSzPts val="1100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Verificar si el X-Idempotency-Key existe en Redis.</a:t>
            </a:r>
          </a:p>
          <a:p>
            <a:pPr lvl="0" algn="just">
              <a:buSzPts val="1100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Si no existe: Guardar la llave en Redis con un Time-To-Live (TTL) de 24 horas y permitir que la petición pase. </a:t>
            </a: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  <a:p>
            <a:pPr lvl="0" algn="just">
              <a:buSzPts val="1100"/>
            </a:pPr>
            <a:r>
              <a:rPr lang="es-MX" sz="1450" b="1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MTLS:</a:t>
            </a:r>
          </a:p>
          <a:p>
            <a:pPr lvl="0" algn="just">
              <a:buSzPts val="1100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Generar certificados TLS - Truststore y Keystore: Esta capa tendra que pedir certificado para poder hacer peticiones y enviara certificado a la capa Core.</a:t>
            </a: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</p:txBody>
      </p:sp>
      <p:pic>
        <p:nvPicPr>
          <p:cNvPr id="5" name="Picture 4" descr="Spring Framework Logo Svg , Png Download - Java Spring - (504x362) Png ...">
            <a:extLst>
              <a:ext uri="{FF2B5EF4-FFF2-40B4-BE49-F238E27FC236}">
                <a16:creationId xmlns:a16="http://schemas.microsoft.com/office/drawing/2014/main" id="{0BA37254-AD51-8EE2-4ABE-E618D20B5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283" y="2681817"/>
            <a:ext cx="1111167" cy="79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4253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51C63-43D6-11D0-37D6-7A22315AF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5;p26">
            <a:extLst>
              <a:ext uri="{FF2B5EF4-FFF2-40B4-BE49-F238E27FC236}">
                <a16:creationId xmlns:a16="http://schemas.microsoft.com/office/drawing/2014/main" id="{D01DDBCC-83C0-DC70-A4F8-ACAD30FB5C13}"/>
              </a:ext>
            </a:extLst>
          </p:cNvPr>
          <p:cNvSpPr/>
          <p:nvPr/>
        </p:nvSpPr>
        <p:spPr>
          <a:xfrm>
            <a:off x="873800" y="452782"/>
            <a:ext cx="4932300" cy="9672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4" name="Google Shape;126;p26">
            <a:extLst>
              <a:ext uri="{FF2B5EF4-FFF2-40B4-BE49-F238E27FC236}">
                <a16:creationId xmlns:a16="http://schemas.microsoft.com/office/drawing/2014/main" id="{2C3B5492-B24F-D229-3DCF-DE61C4017F7E}"/>
              </a:ext>
            </a:extLst>
          </p:cNvPr>
          <p:cNvSpPr txBox="1">
            <a:spLocks/>
          </p:cNvSpPr>
          <p:nvPr/>
        </p:nvSpPr>
        <p:spPr>
          <a:xfrm>
            <a:off x="984675" y="659782"/>
            <a:ext cx="4821425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b="1" noProof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EVALUACION PRACTICA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86E5219-09AB-7FB7-8857-6D9872B0CEDB}"/>
              </a:ext>
            </a:extLst>
          </p:cNvPr>
          <p:cNvSpPr txBox="1"/>
          <p:nvPr/>
        </p:nvSpPr>
        <p:spPr>
          <a:xfrm>
            <a:off x="746801" y="1626982"/>
            <a:ext cx="6780066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100"/>
            </a:pPr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  <a:sym typeface="Barlow Medium"/>
              </a:rPr>
              <a:t>EN LA CAPA CORE:</a:t>
            </a:r>
          </a:p>
          <a:p>
            <a:pPr lvl="0" algn="just">
              <a:buSzPts val="1100"/>
            </a:pPr>
            <a:endParaRPr lang="es-MX" sz="1450" b="1" noProof="1">
              <a:solidFill>
                <a:schemeClr val="accent1">
                  <a:lumMod val="75000"/>
                </a:schemeClr>
              </a:solidFill>
              <a:latin typeface="Barlow" pitchFamily="2" charset="77"/>
              <a:sym typeface="Barlow Medium"/>
            </a:endParaRPr>
          </a:p>
          <a:p>
            <a:pPr lvl="0" algn="just">
              <a:buSzPts val="1100"/>
            </a:pPr>
            <a:r>
              <a:rPr lang="es-MX" sz="1450" b="1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SPRING AOP:</a:t>
            </a:r>
          </a:p>
          <a:p>
            <a:pPr lvl="0" algn="just">
              <a:buSzPts val="1100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Implementar un aspecto </a:t>
            </a:r>
            <a:r>
              <a:rPr lang="es-MX" sz="1450" b="1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@RewardPerformanceMonitor. 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Este debera interceptar la ejecución del método principal del Service.</a:t>
            </a: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  <a:p>
            <a:pPr marL="285750" lvl="0" indent="-285750" algn="just">
              <a:buSzPts val="1100"/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Regla: Medir el tiempo de ejecución en milisegundos. Si la transacción genera más de 1,000 puntos en total, el aspecto debe imprimir un log de nivel WARN: "ALERTA DE AUDITORÍA: Transacción de alto valor procesada en [X] ms”</a:t>
            </a: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  <a:p>
            <a:pPr lvl="0" algn="just">
              <a:buSzPts val="1100"/>
            </a:pPr>
            <a:r>
              <a:rPr lang="es-MX" sz="1450" b="1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APACHE KAFKA</a:t>
            </a:r>
          </a:p>
          <a:p>
            <a:pPr lvl="0" algn="just">
              <a:buSzPts val="1100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Tras persistir en MongoDB, publicar un evento en el tópico rewards.transactions.topic. El evento debe incluir el ID del usuario, el total de puntos ganados, el tipo de canal y el codigo de cine ganado (si es que aplica).</a:t>
            </a:r>
          </a:p>
        </p:txBody>
      </p:sp>
      <p:pic>
        <p:nvPicPr>
          <p:cNvPr id="5" name="Picture 4" descr="Spring Framework Logo Svg , Png Download - Java Spring - (504x362) Png ...">
            <a:extLst>
              <a:ext uri="{FF2B5EF4-FFF2-40B4-BE49-F238E27FC236}">
                <a16:creationId xmlns:a16="http://schemas.microsoft.com/office/drawing/2014/main" id="{3A65A868-C429-DB26-1A62-05495CA1B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283" y="2681817"/>
            <a:ext cx="1111167" cy="79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8989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54ED0-3F94-E29E-92F4-513AF76D5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5;p26">
            <a:extLst>
              <a:ext uri="{FF2B5EF4-FFF2-40B4-BE49-F238E27FC236}">
                <a16:creationId xmlns:a16="http://schemas.microsoft.com/office/drawing/2014/main" id="{549ACC9A-D4C7-3FE7-226C-8B1DF70AD94C}"/>
              </a:ext>
            </a:extLst>
          </p:cNvPr>
          <p:cNvSpPr/>
          <p:nvPr/>
        </p:nvSpPr>
        <p:spPr>
          <a:xfrm>
            <a:off x="873800" y="452782"/>
            <a:ext cx="4932300" cy="9672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4" name="Google Shape;126;p26">
            <a:extLst>
              <a:ext uri="{FF2B5EF4-FFF2-40B4-BE49-F238E27FC236}">
                <a16:creationId xmlns:a16="http://schemas.microsoft.com/office/drawing/2014/main" id="{A24D7D7B-05BB-596C-8107-62980D25E6DD}"/>
              </a:ext>
            </a:extLst>
          </p:cNvPr>
          <p:cNvSpPr txBox="1">
            <a:spLocks/>
          </p:cNvSpPr>
          <p:nvPr/>
        </p:nvSpPr>
        <p:spPr>
          <a:xfrm>
            <a:off x="984675" y="659782"/>
            <a:ext cx="4821425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b="1" noProof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EVALUACION PRACTICA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1BBC716-9A73-5B73-80EB-365CDB6EE475}"/>
              </a:ext>
            </a:extLst>
          </p:cNvPr>
          <p:cNvSpPr txBox="1"/>
          <p:nvPr/>
        </p:nvSpPr>
        <p:spPr>
          <a:xfrm>
            <a:off x="763732" y="1713729"/>
            <a:ext cx="6974801" cy="2993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100"/>
            </a:pPr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  <a:sym typeface="Barlow Medium"/>
              </a:rPr>
              <a:t>EN EL MS NOFITICATION-WORKER:</a:t>
            </a: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  <a:p>
            <a:pPr lvl="0" algn="just">
              <a:buSzPts val="1100"/>
            </a:pPr>
            <a:r>
              <a:rPr lang="es-MX" sz="1450" b="1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ARQUITECTURA HEXAGONAL:</a:t>
            </a:r>
          </a:p>
          <a:p>
            <a:pPr lvl="0" algn="just">
              <a:buSzPts val="1100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Este microservicio debera estar desarrollado con la arquitectura hexagonal. Este microservicio lo que hara es que si el usuario obtuvo mas de 1000 puntos enviarle un correo de felicitaciones.</a:t>
            </a: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  <a:p>
            <a:pPr lvl="0" algn="just">
              <a:buSzPts val="1100"/>
            </a:pPr>
            <a:r>
              <a:rPr lang="es-MX" sz="1450" b="1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SPRING BATCH:</a:t>
            </a:r>
          </a:p>
          <a:p>
            <a:pPr marL="285750" lvl="0" indent="-285750" algn="just">
              <a:buSzPts val="1100"/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Ademas crear un JOB que debe ejecutarse automáticamente todos los días a las 9:59 AM.</a:t>
            </a:r>
          </a:p>
          <a:p>
            <a:pPr marL="285750" lvl="0" indent="-285750" algn="just">
              <a:buSzPts val="1100"/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Leer de la base de datos todas las notificaciones procesadas en el día.</a:t>
            </a:r>
          </a:p>
          <a:p>
            <a:pPr marL="285750" lvl="0" indent="-285750" algn="just">
              <a:buSzPts val="1100"/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Formatear los datos para enmascarar el ID del usuario (ej. ACC-***43).</a:t>
            </a:r>
          </a:p>
          <a:p>
            <a:pPr marL="285750" lvl="0" indent="-285750" algn="just">
              <a:buSzPts val="1100"/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Generar un archivo en formato CSV con el reporte de las transacciones.</a:t>
            </a:r>
          </a:p>
        </p:txBody>
      </p:sp>
      <p:pic>
        <p:nvPicPr>
          <p:cNvPr id="5" name="Picture 4" descr="Spring Framework Logo Svg , Png Download - Java Spring - (504x362) Png ...">
            <a:extLst>
              <a:ext uri="{FF2B5EF4-FFF2-40B4-BE49-F238E27FC236}">
                <a16:creationId xmlns:a16="http://schemas.microsoft.com/office/drawing/2014/main" id="{68C70A09-2186-ABC0-7D48-2E21564C8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700" y="2527962"/>
            <a:ext cx="1111167" cy="79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5219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64527-C600-F8DC-2E84-2CD8E69ED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5;p26">
            <a:extLst>
              <a:ext uri="{FF2B5EF4-FFF2-40B4-BE49-F238E27FC236}">
                <a16:creationId xmlns:a16="http://schemas.microsoft.com/office/drawing/2014/main" id="{D8E726B8-EAF3-A72E-091E-7A1A5B7D762B}"/>
              </a:ext>
            </a:extLst>
          </p:cNvPr>
          <p:cNvSpPr/>
          <p:nvPr/>
        </p:nvSpPr>
        <p:spPr>
          <a:xfrm>
            <a:off x="873800" y="452782"/>
            <a:ext cx="4932300" cy="9672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4" name="Google Shape;126;p26">
            <a:extLst>
              <a:ext uri="{FF2B5EF4-FFF2-40B4-BE49-F238E27FC236}">
                <a16:creationId xmlns:a16="http://schemas.microsoft.com/office/drawing/2014/main" id="{7B3AFD14-74B7-F4CF-12F8-6F063F8867B3}"/>
              </a:ext>
            </a:extLst>
          </p:cNvPr>
          <p:cNvSpPr txBox="1">
            <a:spLocks/>
          </p:cNvSpPr>
          <p:nvPr/>
        </p:nvSpPr>
        <p:spPr>
          <a:xfrm>
            <a:off x="984675" y="659782"/>
            <a:ext cx="4821425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b="1" noProof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EVALUACION PRACTICA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4B1199E-A31A-ECC0-4B05-BC65103D2480}"/>
              </a:ext>
            </a:extLst>
          </p:cNvPr>
          <p:cNvSpPr txBox="1"/>
          <p:nvPr/>
        </p:nvSpPr>
        <p:spPr>
          <a:xfrm>
            <a:off x="772199" y="1988293"/>
            <a:ext cx="6466801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100"/>
            </a:pPr>
            <a:r>
              <a:rPr lang="es-MX" sz="1450" b="1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SonarQube: </a:t>
            </a:r>
          </a:p>
          <a:p>
            <a:pPr lvl="0" algn="just">
              <a:buSzPts val="1100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Configurar una regla de análisis. Validar específicamente que dentro del paquete de dominio o domain no exista ningún import que contenga org.springframework. Si existe, la build debe fallar.</a:t>
            </a:r>
          </a:p>
          <a:p>
            <a:pPr lvl="0" algn="just">
              <a:buSzPts val="1100"/>
            </a:pPr>
            <a:endParaRPr lang="es-MX" sz="1450" noProof="1">
              <a:solidFill>
                <a:srgbClr val="666666"/>
              </a:solidFill>
              <a:latin typeface="Barlow" pitchFamily="2" charset="77"/>
              <a:sym typeface="Barlow Medium"/>
            </a:endParaRPr>
          </a:p>
          <a:p>
            <a:pPr lvl="0" algn="just">
              <a:buSzPts val="1100"/>
            </a:pPr>
            <a:r>
              <a:rPr lang="es-MX" sz="1450" b="1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DIAGRAMAS y DEFINICION API SWAGGER:</a:t>
            </a:r>
          </a:p>
          <a:p>
            <a:pPr lvl="0" algn="just">
              <a:buSzPts val="1100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  <a:sym typeface="Barlow Medium"/>
              </a:rPr>
              <a:t>Antes de comenzar con el desarrollo, primero deberas generar los diagramas de secuencia y de componentes y la definicion API.</a:t>
            </a:r>
          </a:p>
        </p:txBody>
      </p:sp>
      <p:pic>
        <p:nvPicPr>
          <p:cNvPr id="5" name="Picture 4" descr="Spring Framework Logo Svg , Png Download - Java Spring - (504x362) Png ...">
            <a:extLst>
              <a:ext uri="{FF2B5EF4-FFF2-40B4-BE49-F238E27FC236}">
                <a16:creationId xmlns:a16="http://schemas.microsoft.com/office/drawing/2014/main" id="{0EF7FDC9-86F4-0501-A1B9-9E676A55F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700" y="2527962"/>
            <a:ext cx="1111167" cy="79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757641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2459</TotalTime>
  <Words>811</Words>
  <Application>Microsoft Macintosh PowerPoint</Application>
  <PresentationFormat>Presentación en pantalla (16:9)</PresentationFormat>
  <Paragraphs>90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Barlow ExtraLight</vt:lpstr>
      <vt:lpstr>Barlow ExtraBold</vt:lpstr>
      <vt:lpstr>Barlow</vt:lpstr>
      <vt:lpstr>Simple Light</vt:lpstr>
      <vt:lpstr>Simple Light</vt:lpstr>
      <vt:lpstr>EVALUACION FINAL DEV JAVA Caso Practico.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PROYECTOS CERRADOS</dc:title>
  <cp:lastModifiedBy>CHRISTIAN HERNANDEZ  ALTAMIRANO</cp:lastModifiedBy>
  <cp:revision>150</cp:revision>
  <dcterms:modified xsi:type="dcterms:W3CDTF">2026-05-20T23:33:33Z</dcterms:modified>
</cp:coreProperties>
</file>